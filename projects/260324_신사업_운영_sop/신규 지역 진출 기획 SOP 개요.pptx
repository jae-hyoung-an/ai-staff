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image" Target="../media/image-5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png"/><Relationship Id="rId27" Type="http://schemas.openxmlformats.org/officeDocument/2006/relationships/image" Target="../media/image-10-27.png"/><Relationship Id="rId28" Type="http://schemas.openxmlformats.org/officeDocument/2006/relationships/image" Target="../media/image-10-28.png"/><Relationship Id="rId29" Type="http://schemas.openxmlformats.org/officeDocument/2006/relationships/image" Target="../media/image-10-29.png"/><Relationship Id="rId30" Type="http://schemas.openxmlformats.org/officeDocument/2006/relationships/image" Target="../media/image-10-30.png"/><Relationship Id="rId31" Type="http://schemas.openxmlformats.org/officeDocument/2006/relationships/image" Target="../media/image-10-31.png"/><Relationship Id="rId32" Type="http://schemas.openxmlformats.org/officeDocument/2006/relationships/image" Target="../media/image-10-32.png"/><Relationship Id="rId33" Type="http://schemas.openxmlformats.org/officeDocument/2006/relationships/image" Target="../media/image-10-33.png"/><Relationship Id="rId34" Type="http://schemas.openxmlformats.org/officeDocument/2006/relationships/image" Target="../media/image-10-34.png"/><Relationship Id="rId35" Type="http://schemas.openxmlformats.org/officeDocument/2006/relationships/image" Target="../media/image-10-35.png"/><Relationship Id="rId36" Type="http://schemas.openxmlformats.org/officeDocument/2006/relationships/image" Target="../media/image-10-36.png"/><Relationship Id="rId37" Type="http://schemas.openxmlformats.org/officeDocument/2006/relationships/image" Target="../media/image-10-37.png"/><Relationship Id="rId38" Type="http://schemas.openxmlformats.org/officeDocument/2006/relationships/image" Target="../media/image-10-38.png"/><Relationship Id="rId39" Type="http://schemas.openxmlformats.org/officeDocument/2006/relationships/image" Target="../media/image-10-39.png"/><Relationship Id="rId40" Type="http://schemas.openxmlformats.org/officeDocument/2006/relationships/image" Target="../media/image-10-40.png"/><Relationship Id="rId41" Type="http://schemas.openxmlformats.org/officeDocument/2006/relationships/image" Target="../media/image-10-41.png"/><Relationship Id="rId42" Type="http://schemas.openxmlformats.org/officeDocument/2006/relationships/image" Target="../media/image-10-42.png"/><Relationship Id="rId43" Type="http://schemas.openxmlformats.org/officeDocument/2006/relationships/image" Target="../media/image-10-43.png"/><Relationship Id="rId44" Type="http://schemas.openxmlformats.org/officeDocument/2006/relationships/image" Target="../media/image-10-44.png"/><Relationship Id="rId45" Type="http://schemas.openxmlformats.org/officeDocument/2006/relationships/image" Target="../media/image-10-45.png"/><Relationship Id="rId46" Type="http://schemas.openxmlformats.org/officeDocument/2006/relationships/image" Target="../media/image-10-46.png"/><Relationship Id="rId47" Type="http://schemas.openxmlformats.org/officeDocument/2006/relationships/image" Target="../media/image-10-47.png"/><Relationship Id="rId48" Type="http://schemas.openxmlformats.org/officeDocument/2006/relationships/image" Target="../media/image-10-48.png"/><Relationship Id="rId49" Type="http://schemas.openxmlformats.org/officeDocument/2006/relationships/slideLayout" Target="../slideLayouts/slideLayout1.xml"/><Relationship Id="rId5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0"/>
            <a:ext cx="4063901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857500"/>
            <a:ext cx="38100" cy="1143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5372100"/>
            <a:ext cx="10439400" cy="723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4600" y="5962650"/>
            <a:ext cx="76200" cy="762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990600" y="2362200"/>
            <a:ext cx="44805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006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OPERATING PROCEDURE</a:t>
            </a:r>
            <a:endParaRPr lang="en-US" sz="1050" dirty="0"/>
          </a:p>
        </p:txBody>
      </p:sp>
      <p:sp>
        <p:nvSpPr>
          <p:cNvPr id="9" name="Text 1"/>
          <p:cNvSpPr/>
          <p:nvPr/>
        </p:nvSpPr>
        <p:spPr>
          <a:xfrm>
            <a:off x="990600" y="2781300"/>
            <a:ext cx="12344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6750"/>
              </a:lnSpc>
              <a:buNone/>
            </a:pPr>
            <a:r>
              <a:rPr lang="en-US" sz="5400" b="1" spc="-108" kern="0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신규 지역 진출 기획 SOP</a:t>
            </a:r>
            <a:endParaRPr lang="en-US" sz="5400" dirty="0"/>
          </a:p>
        </p:txBody>
      </p:sp>
      <p:sp>
        <p:nvSpPr>
          <p:cNvPr id="10" name="Text 2"/>
          <p:cNvSpPr/>
          <p:nvPr/>
        </p:nvSpPr>
        <p:spPr>
          <a:xfrm>
            <a:off x="990600" y="3790950"/>
            <a:ext cx="6400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925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안정적 런칭을 위한 4주 단위 표준 운영 프로세스 및</a:t>
            </a:r>
            <a:pPr indent="0" marL="0">
              <a:lnSpc>
                <a:spcPts val="2925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2925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조직별 협업 체계 가이드라인</a:t>
            </a:r>
            <a:endParaRPr lang="en-US" sz="1800" dirty="0"/>
          </a:p>
        </p:txBody>
      </p:sp>
      <p:sp>
        <p:nvSpPr>
          <p:cNvPr id="11" name="Text 3"/>
          <p:cNvSpPr/>
          <p:nvPr/>
        </p:nvSpPr>
        <p:spPr>
          <a:xfrm>
            <a:off x="990600" y="5715000"/>
            <a:ext cx="838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spc="36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작성일</a:t>
            </a:r>
            <a:endParaRPr lang="en-US" sz="900" dirty="0"/>
          </a:p>
        </p:txBody>
      </p:sp>
      <p:sp>
        <p:nvSpPr>
          <p:cNvPr id="12" name="Text 4"/>
          <p:cNvSpPr/>
          <p:nvPr/>
        </p:nvSpPr>
        <p:spPr>
          <a:xfrm>
            <a:off x="990600" y="5905500"/>
            <a:ext cx="2773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2026. 03. 25</a:t>
            </a:r>
            <a:endParaRPr lang="en-US" sz="1050" dirty="0"/>
          </a:p>
        </p:txBody>
      </p:sp>
      <p:sp>
        <p:nvSpPr>
          <p:cNvPr id="13" name="Text 5"/>
          <p:cNvSpPr/>
          <p:nvPr/>
        </p:nvSpPr>
        <p:spPr>
          <a:xfrm>
            <a:off x="2286000" y="5715000"/>
            <a:ext cx="1152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spc="36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문서 성격</a:t>
            </a:r>
            <a:endParaRPr lang="en-US" sz="900" dirty="0"/>
          </a:p>
        </p:txBody>
      </p:sp>
      <p:sp>
        <p:nvSpPr>
          <p:cNvPr id="14" name="Text 6"/>
          <p:cNvSpPr/>
          <p:nvPr/>
        </p:nvSpPr>
        <p:spPr>
          <a:xfrm>
            <a:off x="2286000" y="5905500"/>
            <a:ext cx="20802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발표용 요약본 (PPT)</a:t>
            </a:r>
            <a:endParaRPr lang="en-US" sz="1050" dirty="0"/>
          </a:p>
        </p:txBody>
      </p:sp>
      <p:sp>
        <p:nvSpPr>
          <p:cNvPr id="15" name="Text 7"/>
          <p:cNvSpPr/>
          <p:nvPr/>
        </p:nvSpPr>
        <p:spPr>
          <a:xfrm>
            <a:off x="3895725" y="5715000"/>
            <a:ext cx="1323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spc="36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가치</a:t>
            </a:r>
            <a:endParaRPr lang="en-US" sz="900" dirty="0"/>
          </a:p>
        </p:txBody>
      </p:sp>
      <p:sp>
        <p:nvSpPr>
          <p:cNvPr id="16" name="Text 8"/>
          <p:cNvSpPr/>
          <p:nvPr/>
        </p:nvSpPr>
        <p:spPr>
          <a:xfrm>
            <a:off x="3895725" y="59055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표준화 · 효율성 · 투명성</a:t>
            </a:r>
            <a:endParaRPr lang="en-US" sz="1050" dirty="0"/>
          </a:p>
        </p:txBody>
      </p:sp>
      <p:sp>
        <p:nvSpPr>
          <p:cNvPr id="17" name="Text 9"/>
          <p:cNvSpPr/>
          <p:nvPr/>
        </p:nvSpPr>
        <p:spPr>
          <a:xfrm>
            <a:off x="10134600" y="5676900"/>
            <a:ext cx="1295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00" spc="36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Text 10"/>
          <p:cNvSpPr/>
          <p:nvPr/>
        </p:nvSpPr>
        <p:spPr>
          <a:xfrm>
            <a:off x="8869680" y="5905500"/>
            <a:ext cx="25603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D34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for Launch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88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99" y="410249"/>
            <a:ext cx="11097990" cy="51964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598" y="1258098"/>
            <a:ext cx="437599" cy="43759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486" y="1362583"/>
            <a:ext cx="259824" cy="22862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5097" y="1584267"/>
            <a:ext cx="1242927" cy="136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0923" y="1258098"/>
            <a:ext cx="437599" cy="43759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9810" y="1362583"/>
            <a:ext cx="259825" cy="22862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1422" y="1584267"/>
            <a:ext cx="1242927" cy="136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7248" y="1258098"/>
            <a:ext cx="437599" cy="43759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0579" y="1362583"/>
            <a:ext cx="170937" cy="22862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97746" y="1584267"/>
            <a:ext cx="1242927" cy="1367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3573" y="1258098"/>
            <a:ext cx="437599" cy="437599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29553" y="1362583"/>
            <a:ext cx="225637" cy="228628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4071" y="1584267"/>
            <a:ext cx="1242928" cy="1367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69897" y="1258098"/>
            <a:ext cx="437599" cy="437599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45110" y="1362583"/>
            <a:ext cx="287174" cy="228628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6999" y="2580617"/>
            <a:ext cx="11097990" cy="3588719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6999" y="2580617"/>
            <a:ext cx="11097990" cy="447321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6999" y="3027939"/>
            <a:ext cx="1849647" cy="628194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6999" y="3656133"/>
            <a:ext cx="11097990" cy="628194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6999" y="3656133"/>
            <a:ext cx="1849647" cy="628194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6999" y="4284327"/>
            <a:ext cx="11097990" cy="628194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6999" y="4284327"/>
            <a:ext cx="1849647" cy="628194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46999" y="4912521"/>
            <a:ext cx="11097990" cy="628194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46999" y="4912521"/>
            <a:ext cx="1849647" cy="628194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6999" y="5540715"/>
            <a:ext cx="11097990" cy="628622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6999" y="5540715"/>
            <a:ext cx="1849647" cy="628622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92086" y="6333437"/>
            <a:ext cx="116237" cy="114314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711099" y="410249"/>
            <a:ext cx="10933891" cy="27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54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지역 진출 전체 프로세스 요약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711099" y="738449"/>
            <a:ext cx="12631944" cy="19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7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진출 지역 확정부터 공급 목표 수립까지 총 5단계 흐름 및 핵심 산출물</a:t>
            </a:r>
            <a:endParaRPr lang="en-US" sz="1500" dirty="0"/>
          </a:p>
        </p:txBody>
      </p:sp>
      <p:sp>
        <p:nvSpPr>
          <p:cNvPr id="32" name="Text 2"/>
          <p:cNvSpPr/>
          <p:nvPr/>
        </p:nvSpPr>
        <p:spPr>
          <a:xfrm>
            <a:off x="354191" y="1777747"/>
            <a:ext cx="1698414" cy="22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1200" dirty="0"/>
          </a:p>
        </p:txBody>
      </p:sp>
      <p:sp>
        <p:nvSpPr>
          <p:cNvPr id="33" name="Text 3"/>
          <p:cNvSpPr/>
          <p:nvPr/>
        </p:nvSpPr>
        <p:spPr>
          <a:xfrm>
            <a:off x="311730" y="2006268"/>
            <a:ext cx="1783336" cy="13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77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진출 지역 확정</a:t>
            </a:r>
            <a:endParaRPr lang="en-US" sz="1050" dirty="0"/>
          </a:p>
        </p:txBody>
      </p:sp>
      <p:sp>
        <p:nvSpPr>
          <p:cNvPr id="34" name="Text 4"/>
          <p:cNvSpPr/>
          <p:nvPr/>
        </p:nvSpPr>
        <p:spPr>
          <a:xfrm>
            <a:off x="2800515" y="1777747"/>
            <a:ext cx="1698414" cy="22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200" dirty="0"/>
          </a:p>
        </p:txBody>
      </p:sp>
      <p:sp>
        <p:nvSpPr>
          <p:cNvPr id="35" name="Text 5"/>
          <p:cNvSpPr/>
          <p:nvPr/>
        </p:nvSpPr>
        <p:spPr>
          <a:xfrm>
            <a:off x="3092430" y="2006268"/>
            <a:ext cx="1114585" cy="13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77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권역 기획</a:t>
            </a:r>
            <a:endParaRPr lang="en-US" sz="1050" dirty="0"/>
          </a:p>
        </p:txBody>
      </p:sp>
      <p:sp>
        <p:nvSpPr>
          <p:cNvPr id="36" name="Text 6"/>
          <p:cNvSpPr/>
          <p:nvPr/>
        </p:nvSpPr>
        <p:spPr>
          <a:xfrm>
            <a:off x="5246840" y="1777747"/>
            <a:ext cx="1698414" cy="22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1200" dirty="0"/>
          </a:p>
        </p:txBody>
      </p:sp>
      <p:sp>
        <p:nvSpPr>
          <p:cNvPr id="37" name="Text 7"/>
          <p:cNvSpPr/>
          <p:nvPr/>
        </p:nvSpPr>
        <p:spPr>
          <a:xfrm>
            <a:off x="5315838" y="2006268"/>
            <a:ext cx="1560419" cy="13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77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원/판가 기획</a:t>
            </a:r>
            <a:endParaRPr lang="en-US" sz="1050" dirty="0"/>
          </a:p>
        </p:txBody>
      </p:sp>
      <p:sp>
        <p:nvSpPr>
          <p:cNvPr id="38" name="Text 8"/>
          <p:cNvSpPr/>
          <p:nvPr/>
        </p:nvSpPr>
        <p:spPr>
          <a:xfrm>
            <a:off x="7353482" y="1777747"/>
            <a:ext cx="2377780" cy="22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4-1</a:t>
            </a:r>
            <a:endParaRPr lang="en-US" sz="1200" dirty="0"/>
          </a:p>
        </p:txBody>
      </p:sp>
      <p:sp>
        <p:nvSpPr>
          <p:cNvPr id="39" name="Text 9"/>
          <p:cNvSpPr/>
          <p:nvPr/>
        </p:nvSpPr>
        <p:spPr>
          <a:xfrm>
            <a:off x="7985080" y="2006268"/>
            <a:ext cx="1114585" cy="13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77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 목표</a:t>
            </a:r>
            <a:endParaRPr lang="en-US" sz="1050" dirty="0"/>
          </a:p>
        </p:txBody>
      </p:sp>
      <p:sp>
        <p:nvSpPr>
          <p:cNvPr id="40" name="Text 10"/>
          <p:cNvSpPr/>
          <p:nvPr/>
        </p:nvSpPr>
        <p:spPr>
          <a:xfrm>
            <a:off x="9799807" y="1777747"/>
            <a:ext cx="2377780" cy="22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4-2</a:t>
            </a:r>
            <a:endParaRPr lang="en-US" sz="1200" dirty="0"/>
          </a:p>
        </p:txBody>
      </p:sp>
      <p:sp>
        <p:nvSpPr>
          <p:cNvPr id="41" name="Text 11"/>
          <p:cNvSpPr/>
          <p:nvPr/>
        </p:nvSpPr>
        <p:spPr>
          <a:xfrm>
            <a:off x="10208487" y="2006268"/>
            <a:ext cx="1560419" cy="13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77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공급목표</a:t>
            </a:r>
            <a:endParaRPr lang="en-US" sz="1050" dirty="0"/>
          </a:p>
        </p:txBody>
      </p:sp>
      <p:sp>
        <p:nvSpPr>
          <p:cNvPr id="42" name="Text 12"/>
          <p:cNvSpPr/>
          <p:nvPr/>
        </p:nvSpPr>
        <p:spPr>
          <a:xfrm>
            <a:off x="711099" y="2580617"/>
            <a:ext cx="1392447" cy="4473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</a:t>
            </a:r>
            <a:endParaRPr lang="en-US" sz="1200" dirty="0"/>
          </a:p>
        </p:txBody>
      </p:sp>
      <p:sp>
        <p:nvSpPr>
          <p:cNvPr id="43" name="Text 13"/>
          <p:cNvSpPr/>
          <p:nvPr/>
        </p:nvSpPr>
        <p:spPr>
          <a:xfrm>
            <a:off x="2560746" y="2580617"/>
            <a:ext cx="1392447" cy="4473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</a:t>
            </a:r>
            <a:endParaRPr lang="en-US" sz="1200" dirty="0"/>
          </a:p>
        </p:txBody>
      </p:sp>
      <p:sp>
        <p:nvSpPr>
          <p:cNvPr id="44" name="Text 14"/>
          <p:cNvSpPr/>
          <p:nvPr/>
        </p:nvSpPr>
        <p:spPr>
          <a:xfrm>
            <a:off x="4246293" y="2580617"/>
            <a:ext cx="3242094" cy="4473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목적</a:t>
            </a:r>
            <a:endParaRPr lang="en-US" sz="1200" dirty="0"/>
          </a:p>
        </p:txBody>
      </p:sp>
      <p:sp>
        <p:nvSpPr>
          <p:cNvPr id="45" name="Text 15"/>
          <p:cNvSpPr/>
          <p:nvPr/>
        </p:nvSpPr>
        <p:spPr>
          <a:xfrm>
            <a:off x="7945588" y="2580617"/>
            <a:ext cx="3242202" cy="4473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</a:t>
            </a:r>
            <a:endParaRPr lang="en-US" sz="1200" dirty="0"/>
          </a:p>
        </p:txBody>
      </p:sp>
      <p:sp>
        <p:nvSpPr>
          <p:cNvPr id="46" name="Text 16"/>
          <p:cNvSpPr/>
          <p:nvPr/>
        </p:nvSpPr>
        <p:spPr>
          <a:xfrm>
            <a:off x="711099" y="3027939"/>
            <a:ext cx="3004701" cy="6281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 진출 지역 확정</a:t>
            </a:r>
            <a:endParaRPr lang="en-US" sz="1200" dirty="0"/>
          </a:p>
        </p:txBody>
      </p:sp>
      <p:sp>
        <p:nvSpPr>
          <p:cNvPr id="47" name="Text 17"/>
          <p:cNvSpPr/>
          <p:nvPr/>
        </p:nvSpPr>
        <p:spPr>
          <a:xfrm>
            <a:off x="2560746" y="3027939"/>
            <a:ext cx="1392447" cy="6281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L-4주</a:t>
            </a:r>
            <a:endParaRPr lang="en-US" sz="1200" dirty="0"/>
          </a:p>
        </p:txBody>
      </p:sp>
      <p:sp>
        <p:nvSpPr>
          <p:cNvPr id="48" name="Text 18"/>
          <p:cNvSpPr/>
          <p:nvPr/>
        </p:nvSpPr>
        <p:spPr>
          <a:xfrm>
            <a:off x="4410393" y="3027939"/>
            <a:ext cx="3795688" cy="6281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진출 대상 지역 확정 및 킥오프</a:t>
            </a:r>
            <a:endParaRPr lang="en-US" sz="1200" dirty="0"/>
          </a:p>
        </p:txBody>
      </p:sp>
      <p:sp>
        <p:nvSpPr>
          <p:cNvPr id="49" name="Text 19"/>
          <p:cNvSpPr/>
          <p:nvPr/>
        </p:nvSpPr>
        <p:spPr>
          <a:xfrm>
            <a:off x="8109688" y="3027939"/>
            <a:ext cx="3242202" cy="6281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진출 지역 확정안</a:t>
            </a:r>
            <a:endParaRPr lang="en-US" sz="1200" dirty="0"/>
          </a:p>
        </p:txBody>
      </p:sp>
      <p:sp>
        <p:nvSpPr>
          <p:cNvPr id="50" name="Text 20"/>
          <p:cNvSpPr/>
          <p:nvPr/>
        </p:nvSpPr>
        <p:spPr>
          <a:xfrm>
            <a:off x="711099" y="3656133"/>
            <a:ext cx="2429333" cy="6281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 권역 기획</a:t>
            </a:r>
            <a:endParaRPr lang="en-US" sz="1200" dirty="0"/>
          </a:p>
        </p:txBody>
      </p:sp>
      <p:sp>
        <p:nvSpPr>
          <p:cNvPr id="51" name="Text 21"/>
          <p:cNvSpPr/>
          <p:nvPr/>
        </p:nvSpPr>
        <p:spPr>
          <a:xfrm>
            <a:off x="2560746" y="3656133"/>
            <a:ext cx="2365403" cy="6281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L-4주 ~ L-3주</a:t>
            </a:r>
            <a:endParaRPr lang="en-US" sz="1200" dirty="0"/>
          </a:p>
        </p:txBody>
      </p:sp>
      <p:sp>
        <p:nvSpPr>
          <p:cNvPr id="52" name="Text 22"/>
          <p:cNvSpPr/>
          <p:nvPr/>
        </p:nvSpPr>
        <p:spPr>
          <a:xfrm>
            <a:off x="4410393" y="3656133"/>
            <a:ext cx="3795688" cy="6281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Zone 구획 및 관리정책 생성</a:t>
            </a:r>
            <a:endParaRPr lang="en-US" sz="1200" dirty="0"/>
          </a:p>
        </p:txBody>
      </p:sp>
      <p:sp>
        <p:nvSpPr>
          <p:cNvPr id="53" name="Text 23"/>
          <p:cNvSpPr/>
          <p:nvPr/>
        </p:nvSpPr>
        <p:spPr>
          <a:xfrm>
            <a:off x="8109688" y="3656133"/>
            <a:ext cx="3907345" cy="6281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1050" i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Zone 맵/목록 + 인트라 관리정책</a:t>
            </a:r>
            <a:endParaRPr lang="en-US" sz="1050" dirty="0"/>
          </a:p>
        </p:txBody>
      </p:sp>
      <p:sp>
        <p:nvSpPr>
          <p:cNvPr id="54" name="Text 24"/>
          <p:cNvSpPr/>
          <p:nvPr/>
        </p:nvSpPr>
        <p:spPr>
          <a:xfrm>
            <a:off x="711099" y="4284327"/>
            <a:ext cx="2812912" cy="6281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 원/판가 기획</a:t>
            </a:r>
            <a:endParaRPr lang="en-US" sz="1200" dirty="0"/>
          </a:p>
        </p:txBody>
      </p:sp>
      <p:sp>
        <p:nvSpPr>
          <p:cNvPr id="55" name="Text 25"/>
          <p:cNvSpPr/>
          <p:nvPr/>
        </p:nvSpPr>
        <p:spPr>
          <a:xfrm>
            <a:off x="2560746" y="4284327"/>
            <a:ext cx="2876842" cy="6281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L-3주 ~ L-2.5주</a:t>
            </a:r>
            <a:endParaRPr lang="en-US" sz="1200" dirty="0"/>
          </a:p>
        </p:txBody>
      </p:sp>
      <p:sp>
        <p:nvSpPr>
          <p:cNvPr id="56" name="Text 26"/>
          <p:cNvSpPr/>
          <p:nvPr/>
        </p:nvSpPr>
        <p:spPr>
          <a:xfrm>
            <a:off x="4410393" y="4284327"/>
            <a:ext cx="3795688" cy="6281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판가/원가 및 수익성 시뮬레이션</a:t>
            </a:r>
            <a:endParaRPr lang="en-US" sz="1200" dirty="0"/>
          </a:p>
        </p:txBody>
      </p:sp>
      <p:sp>
        <p:nvSpPr>
          <p:cNvPr id="57" name="Text 27"/>
          <p:cNvSpPr/>
          <p:nvPr/>
        </p:nvSpPr>
        <p:spPr>
          <a:xfrm>
            <a:off x="8109688" y="4284327"/>
            <a:ext cx="5079548" cy="6281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1050" i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원/판가표 + 수익성 시뮬레이션 + 인트라 설정</a:t>
            </a:r>
            <a:endParaRPr lang="en-US" sz="1050" dirty="0"/>
          </a:p>
        </p:txBody>
      </p:sp>
      <p:sp>
        <p:nvSpPr>
          <p:cNvPr id="58" name="Text 28"/>
          <p:cNvSpPr/>
          <p:nvPr/>
        </p:nvSpPr>
        <p:spPr>
          <a:xfrm>
            <a:off x="711099" y="4912521"/>
            <a:ext cx="3324350" cy="6281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4-1 영업 목표물량</a:t>
            </a:r>
            <a:endParaRPr lang="en-US" sz="1200" dirty="0"/>
          </a:p>
        </p:txBody>
      </p:sp>
      <p:sp>
        <p:nvSpPr>
          <p:cNvPr id="59" name="Text 29"/>
          <p:cNvSpPr/>
          <p:nvPr/>
        </p:nvSpPr>
        <p:spPr>
          <a:xfrm>
            <a:off x="2560746" y="4912521"/>
            <a:ext cx="2876842" cy="6281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L-2.5주 ~ L-1주</a:t>
            </a:r>
            <a:endParaRPr lang="en-US" sz="1200" dirty="0"/>
          </a:p>
        </p:txBody>
      </p:sp>
      <p:sp>
        <p:nvSpPr>
          <p:cNvPr id="60" name="Text 30"/>
          <p:cNvSpPr/>
          <p:nvPr/>
        </p:nvSpPr>
        <p:spPr>
          <a:xfrm>
            <a:off x="4410393" y="4912521"/>
            <a:ext cx="4018964" cy="6281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Zone별·주차별 오더 목표 확정</a:t>
            </a:r>
            <a:endParaRPr lang="en-US" sz="1200" dirty="0"/>
          </a:p>
        </p:txBody>
      </p:sp>
      <p:sp>
        <p:nvSpPr>
          <p:cNvPr id="61" name="Text 31"/>
          <p:cNvSpPr/>
          <p:nvPr/>
        </p:nvSpPr>
        <p:spPr>
          <a:xfrm>
            <a:off x="8109688" y="4912521"/>
            <a:ext cx="3242202" cy="6281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 목표물량 확정안</a:t>
            </a:r>
            <a:endParaRPr lang="en-US" sz="1200" dirty="0"/>
          </a:p>
        </p:txBody>
      </p:sp>
      <p:sp>
        <p:nvSpPr>
          <p:cNvPr id="62" name="Text 32"/>
          <p:cNvSpPr/>
          <p:nvPr/>
        </p:nvSpPr>
        <p:spPr>
          <a:xfrm>
            <a:off x="711099" y="5540715"/>
            <a:ext cx="3324350" cy="6286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4-2 기사 공급목표</a:t>
            </a:r>
            <a:endParaRPr lang="en-US" sz="1200" dirty="0"/>
          </a:p>
        </p:txBody>
      </p:sp>
      <p:sp>
        <p:nvSpPr>
          <p:cNvPr id="63" name="Text 33"/>
          <p:cNvSpPr/>
          <p:nvPr/>
        </p:nvSpPr>
        <p:spPr>
          <a:xfrm>
            <a:off x="2560746" y="5540715"/>
            <a:ext cx="2876842" cy="6286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L-2.5주 ~ L-1주</a:t>
            </a:r>
            <a:endParaRPr lang="en-US" sz="1200" dirty="0"/>
          </a:p>
        </p:txBody>
      </p:sp>
      <p:sp>
        <p:nvSpPr>
          <p:cNvPr id="64" name="Text 34"/>
          <p:cNvSpPr/>
          <p:nvPr/>
        </p:nvSpPr>
        <p:spPr>
          <a:xfrm>
            <a:off x="4410393" y="5540715"/>
            <a:ext cx="4242240" cy="6286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세트/프렌즈 공급계획 및 계약 확정</a:t>
            </a:r>
            <a:endParaRPr lang="en-US" sz="1200" dirty="0"/>
          </a:p>
        </p:txBody>
      </p:sp>
      <p:sp>
        <p:nvSpPr>
          <p:cNvPr id="65" name="Text 35"/>
          <p:cNvSpPr/>
          <p:nvPr/>
        </p:nvSpPr>
        <p:spPr>
          <a:xfrm>
            <a:off x="8109688" y="5540715"/>
            <a:ext cx="5470283" cy="6286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1050" i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공급목표 확정안 + 계약/확보 계획 + 인트라 설정</a:t>
            </a:r>
            <a:endParaRPr lang="en-US" sz="1050" dirty="0"/>
          </a:p>
        </p:txBody>
      </p:sp>
      <p:sp>
        <p:nvSpPr>
          <p:cNvPr id="66" name="Text 36"/>
          <p:cNvSpPr/>
          <p:nvPr/>
        </p:nvSpPr>
        <p:spPr>
          <a:xfrm>
            <a:off x="6763023" y="6335893"/>
            <a:ext cx="11400622" cy="10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61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단계는 이전 단계의 산출물을 기반으로 유기적으로 연결되며, L-1주 완료 미팅을 통해 최종 확정됩니다.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3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92" y="429969"/>
            <a:ext cx="11045379" cy="54384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79" y="443853"/>
            <a:ext cx="587624" cy="20065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292" y="1289122"/>
            <a:ext cx="85994" cy="14332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292" y="1633097"/>
            <a:ext cx="3528878" cy="137511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5743" y="1805085"/>
            <a:ext cx="343975" cy="3439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6069" y="1876746"/>
            <a:ext cx="143323" cy="20065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1486" y="1633097"/>
            <a:ext cx="3528878" cy="137511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3938" y="1805085"/>
            <a:ext cx="343975" cy="3439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77684" y="1876746"/>
            <a:ext cx="236483" cy="200652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89681" y="1633097"/>
            <a:ext cx="3528990" cy="1375116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82133" y="1805085"/>
            <a:ext cx="343975" cy="34397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71709" y="1876746"/>
            <a:ext cx="164821" cy="200652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3292" y="3380853"/>
            <a:ext cx="85994" cy="143323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3292" y="3667498"/>
            <a:ext cx="3567060" cy="945147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6614" y="3848891"/>
            <a:ext cx="150489" cy="152281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12339" y="3667498"/>
            <a:ext cx="3567172" cy="945147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55662" y="3848891"/>
            <a:ext cx="171987" cy="152281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51499" y="3667498"/>
            <a:ext cx="3567060" cy="945147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94822" y="3848891"/>
            <a:ext cx="193486" cy="152281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3292" y="5662038"/>
            <a:ext cx="11045379" cy="765994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5279" y="5834025"/>
            <a:ext cx="429969" cy="422018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1273" y="5920019"/>
            <a:ext cx="257981" cy="229317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831273" y="443853"/>
            <a:ext cx="866334" cy="2006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9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1050" dirty="0"/>
          </a:p>
        </p:txBody>
      </p:sp>
      <p:sp>
        <p:nvSpPr>
          <p:cNvPr id="26" name="Text 1"/>
          <p:cNvSpPr/>
          <p:nvPr/>
        </p:nvSpPr>
        <p:spPr>
          <a:xfrm>
            <a:off x="1418897" y="429969"/>
            <a:ext cx="1134366" cy="2285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spc="64" kern="0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L-4주</a:t>
            </a:r>
            <a:endParaRPr lang="en-US" sz="1200" dirty="0"/>
          </a:p>
        </p:txBody>
      </p:sp>
      <p:sp>
        <p:nvSpPr>
          <p:cNvPr id="27" name="Text 2"/>
          <p:cNvSpPr/>
          <p:nvPr/>
        </p:nvSpPr>
        <p:spPr>
          <a:xfrm>
            <a:off x="745279" y="687166"/>
            <a:ext cx="10873392" cy="2866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7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진출 지역 확정</a:t>
            </a:r>
            <a:endParaRPr lang="en-US" sz="2700" dirty="0"/>
          </a:p>
        </p:txBody>
      </p:sp>
      <p:sp>
        <p:nvSpPr>
          <p:cNvPr id="28" name="Text 3"/>
          <p:cNvSpPr/>
          <p:nvPr/>
        </p:nvSpPr>
        <p:spPr>
          <a:xfrm>
            <a:off x="716614" y="1260458"/>
            <a:ext cx="11045379" cy="2006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8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프로세스</a:t>
            </a:r>
            <a:endParaRPr lang="en-US" sz="1500" dirty="0"/>
          </a:p>
        </p:txBody>
      </p:sp>
      <p:sp>
        <p:nvSpPr>
          <p:cNvPr id="29" name="Text 4"/>
          <p:cNvSpPr/>
          <p:nvPr/>
        </p:nvSpPr>
        <p:spPr>
          <a:xfrm>
            <a:off x="1162852" y="2263718"/>
            <a:ext cx="2349758" cy="2285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후보지 제시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-852662" y="2549580"/>
            <a:ext cx="6380786" cy="1433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9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기획팀이 사전 분석된 진출 대상 후보 지역 리스트 제안</a:t>
            </a:r>
            <a:endParaRPr lang="en-US" sz="1050" dirty="0"/>
          </a:p>
        </p:txBody>
      </p:sp>
      <p:sp>
        <p:nvSpPr>
          <p:cNvPr id="31" name="Text 6"/>
          <p:cNvSpPr/>
          <p:nvPr/>
        </p:nvSpPr>
        <p:spPr>
          <a:xfrm>
            <a:off x="4677968" y="2263718"/>
            <a:ext cx="2835914" cy="2285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현장 의견 수렴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4503474" y="2549580"/>
            <a:ext cx="3184904" cy="2866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9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영업/운영팀이 상점 파이프라인 및 공급 실현성 관점 의견 제시</a:t>
            </a:r>
            <a:endParaRPr lang="en-US" sz="1050" dirty="0"/>
          </a:p>
        </p:txBody>
      </p:sp>
      <p:sp>
        <p:nvSpPr>
          <p:cNvPr id="33" name="Text 8"/>
          <p:cNvSpPr/>
          <p:nvPr/>
        </p:nvSpPr>
        <p:spPr>
          <a:xfrm>
            <a:off x="8436163" y="2263718"/>
            <a:ext cx="2835914" cy="2285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최종 지역 확정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6770074" y="2549580"/>
            <a:ext cx="6168093" cy="1433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9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킥오프 미팅에서 이해관계자 합의를 통한 최종 의사결정</a:t>
            </a:r>
            <a:endParaRPr lang="en-US" sz="1050" dirty="0"/>
          </a:p>
        </p:txBody>
      </p:sp>
      <p:sp>
        <p:nvSpPr>
          <p:cNvPr id="35" name="Text 10"/>
          <p:cNvSpPr/>
          <p:nvPr/>
        </p:nvSpPr>
        <p:spPr>
          <a:xfrm>
            <a:off x="716614" y="3352188"/>
            <a:ext cx="11045379" cy="2006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8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조직별 핵심 역할</a:t>
            </a:r>
            <a:endParaRPr lang="en-US" sz="1500" dirty="0"/>
          </a:p>
        </p:txBody>
      </p:sp>
      <p:sp>
        <p:nvSpPr>
          <p:cNvPr id="36" name="Text 11"/>
          <p:cNvSpPr/>
          <p:nvPr/>
        </p:nvSpPr>
        <p:spPr>
          <a:xfrm>
            <a:off x="924433" y="3810821"/>
            <a:ext cx="1701549" cy="2285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(주도)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716614" y="4125348"/>
            <a:ext cx="4041165" cy="1433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진출 후보지 사전 분석 및 제안</a:t>
            </a:r>
            <a:endParaRPr lang="en-US" sz="1050" dirty="0"/>
          </a:p>
        </p:txBody>
      </p:sp>
      <p:sp>
        <p:nvSpPr>
          <p:cNvPr id="38" name="Text 13"/>
          <p:cNvSpPr/>
          <p:nvPr/>
        </p:nvSpPr>
        <p:spPr>
          <a:xfrm>
            <a:off x="716614" y="4326000"/>
            <a:ext cx="4466550" cy="1433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킥오프 미팅 주관 및 최종 의사결정</a:t>
            </a:r>
            <a:endParaRPr lang="en-US" sz="1050" dirty="0"/>
          </a:p>
        </p:txBody>
      </p:sp>
      <p:sp>
        <p:nvSpPr>
          <p:cNvPr id="39" name="Text 14"/>
          <p:cNvSpPr/>
          <p:nvPr/>
        </p:nvSpPr>
        <p:spPr>
          <a:xfrm>
            <a:off x="4684979" y="3810821"/>
            <a:ext cx="486157" cy="2285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4455662" y="4125348"/>
            <a:ext cx="4253857" cy="1433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상점 파이프라인 관점 시장성 검토</a:t>
            </a:r>
            <a:endParaRPr lang="en-US" sz="1050" dirty="0"/>
          </a:p>
        </p:txBody>
      </p:sp>
      <p:sp>
        <p:nvSpPr>
          <p:cNvPr id="41" name="Text 16"/>
          <p:cNvSpPr/>
          <p:nvPr/>
        </p:nvSpPr>
        <p:spPr>
          <a:xfrm>
            <a:off x="4455662" y="4326000"/>
            <a:ext cx="4253857" cy="1433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현장 영업 가능성 기반 의견 제시</a:t>
            </a:r>
            <a:endParaRPr lang="en-US" sz="1050" dirty="0"/>
          </a:p>
        </p:txBody>
      </p:sp>
      <p:sp>
        <p:nvSpPr>
          <p:cNvPr id="42" name="Text 17"/>
          <p:cNvSpPr/>
          <p:nvPr/>
        </p:nvSpPr>
        <p:spPr>
          <a:xfrm>
            <a:off x="8445637" y="3810821"/>
            <a:ext cx="486157" cy="2285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</a:t>
            </a:r>
            <a:endParaRPr lang="en-US" sz="1200" dirty="0"/>
          </a:p>
        </p:txBody>
      </p:sp>
      <p:sp>
        <p:nvSpPr>
          <p:cNvPr id="43" name="Text 18"/>
          <p:cNvSpPr/>
          <p:nvPr/>
        </p:nvSpPr>
        <p:spPr>
          <a:xfrm>
            <a:off x="8194822" y="4125348"/>
            <a:ext cx="4253857" cy="1433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벤더 및 프렌즈 수급 가능성 검토</a:t>
            </a:r>
            <a:endParaRPr lang="en-US" sz="1050" dirty="0"/>
          </a:p>
        </p:txBody>
      </p:sp>
      <p:sp>
        <p:nvSpPr>
          <p:cNvPr id="44" name="Text 19"/>
          <p:cNvSpPr/>
          <p:nvPr/>
        </p:nvSpPr>
        <p:spPr>
          <a:xfrm>
            <a:off x="8194822" y="4326000"/>
            <a:ext cx="4466550" cy="1433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29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운영 효율성 관점 공급 실현성 확인</a:t>
            </a:r>
            <a:endParaRPr lang="en-US" sz="1050" dirty="0"/>
          </a:p>
        </p:txBody>
      </p:sp>
      <p:sp>
        <p:nvSpPr>
          <p:cNvPr id="45" name="Text 20"/>
          <p:cNvSpPr/>
          <p:nvPr/>
        </p:nvSpPr>
        <p:spPr>
          <a:xfrm>
            <a:off x="1289906" y="5872991"/>
            <a:ext cx="3615779" cy="1433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9"/>
              </a:lnSpc>
              <a:buNone/>
            </a:pPr>
            <a:r>
              <a:rPr lang="en-US" sz="1050" b="1" spc="112" kern="0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DELIVERABLE</a:t>
            </a:r>
            <a:endParaRPr lang="en-US" sz="1050" dirty="0"/>
          </a:p>
        </p:txBody>
      </p:sp>
      <p:sp>
        <p:nvSpPr>
          <p:cNvPr id="46" name="Text 21"/>
          <p:cNvSpPr/>
          <p:nvPr/>
        </p:nvSpPr>
        <p:spPr>
          <a:xfrm>
            <a:off x="1289906" y="6016314"/>
            <a:ext cx="3646165" cy="2006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진출 대상 지역 확정안</a:t>
            </a:r>
            <a:endParaRPr lang="en-US" sz="1500" dirty="0"/>
          </a:p>
        </p:txBody>
      </p:sp>
      <p:sp>
        <p:nvSpPr>
          <p:cNvPr id="47" name="Text 22"/>
          <p:cNvSpPr/>
          <p:nvPr/>
        </p:nvSpPr>
        <p:spPr>
          <a:xfrm>
            <a:off x="9319755" y="5872991"/>
            <a:ext cx="2126929" cy="1433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129"/>
              </a:lnSpc>
              <a:buNone/>
            </a:pPr>
            <a:r>
              <a:rPr lang="en-US" sz="1050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확정 주체 / 시점</a:t>
            </a:r>
            <a:endParaRPr lang="en-US" sz="1050" dirty="0"/>
          </a:p>
        </p:txBody>
      </p:sp>
      <p:sp>
        <p:nvSpPr>
          <p:cNvPr id="48" name="Text 23"/>
          <p:cNvSpPr/>
          <p:nvPr/>
        </p:nvSpPr>
        <p:spPr>
          <a:xfrm>
            <a:off x="6888971" y="6016314"/>
            <a:ext cx="4557712" cy="2006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58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/ L-4주 킥오프 당일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38" y="372313"/>
            <a:ext cx="707394" cy="28819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38" y="1554056"/>
            <a:ext cx="7373420" cy="131880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948" y="1751266"/>
            <a:ext cx="171264" cy="17138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948" y="2060402"/>
            <a:ext cx="2115318" cy="63374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4406" y="2301009"/>
            <a:ext cx="96801" cy="15241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0347" y="2060402"/>
            <a:ext cx="2115318" cy="63374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4805" y="2301009"/>
            <a:ext cx="96802" cy="15241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00747" y="2060402"/>
            <a:ext cx="2115318" cy="633746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1238" y="3051568"/>
            <a:ext cx="7373420" cy="2710437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9948" y="3248777"/>
            <a:ext cx="215941" cy="17138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9948" y="3557913"/>
            <a:ext cx="7016000" cy="32763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9948" y="4451464"/>
            <a:ext cx="7016000" cy="56591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9948" y="5017379"/>
            <a:ext cx="7016000" cy="56591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73368" y="1554056"/>
            <a:ext cx="3597355" cy="409369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52078" y="1732767"/>
            <a:ext cx="3239935" cy="2978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52078" y="1741842"/>
            <a:ext cx="215941" cy="19034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52078" y="2209327"/>
            <a:ext cx="297850" cy="2978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15372" y="2282044"/>
            <a:ext cx="171264" cy="152416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52078" y="2765585"/>
            <a:ext cx="297850" cy="2978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33987" y="2838303"/>
            <a:ext cx="134033" cy="152415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52078" y="3321844"/>
            <a:ext cx="3239935" cy="65527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52078" y="3743721"/>
            <a:ext cx="201049" cy="228507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073368" y="5826461"/>
            <a:ext cx="3597355" cy="659226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92509" y="5960494"/>
            <a:ext cx="89355" cy="114253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640378" y="372313"/>
            <a:ext cx="887583" cy="2881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200" dirty="0"/>
          </a:p>
        </p:txBody>
      </p:sp>
      <p:sp>
        <p:nvSpPr>
          <p:cNvPr id="28" name="Text 1"/>
          <p:cNvSpPr/>
          <p:nvPr/>
        </p:nvSpPr>
        <p:spPr>
          <a:xfrm>
            <a:off x="521238" y="749861"/>
            <a:ext cx="11149486" cy="297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345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권역 기획 및 관리정책 수립</a:t>
            </a:r>
            <a:endParaRPr lang="en-US" sz="2700" dirty="0"/>
          </a:p>
        </p:txBody>
      </p:sp>
      <p:sp>
        <p:nvSpPr>
          <p:cNvPr id="29" name="Text 2"/>
          <p:cNvSpPr/>
          <p:nvPr/>
        </p:nvSpPr>
        <p:spPr>
          <a:xfrm>
            <a:off x="521238" y="1107281"/>
            <a:ext cx="11149486" cy="20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42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 분석과 공급 실현성 검토를 통한 최적의 운영 권역 확정</a:t>
            </a:r>
            <a:endParaRPr lang="en-US" sz="1500" dirty="0"/>
          </a:p>
        </p:txBody>
      </p:sp>
      <p:sp>
        <p:nvSpPr>
          <p:cNvPr id="30" name="Text 3"/>
          <p:cNvSpPr/>
          <p:nvPr/>
        </p:nvSpPr>
        <p:spPr>
          <a:xfrm>
            <a:off x="930782" y="1732767"/>
            <a:ext cx="7016000" cy="20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42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프로세스</a:t>
            </a:r>
            <a:endParaRPr lang="en-US" sz="1350" dirty="0"/>
          </a:p>
        </p:txBody>
      </p:sp>
      <p:sp>
        <p:nvSpPr>
          <p:cNvPr id="31" name="Text 4"/>
          <p:cNvSpPr/>
          <p:nvPr/>
        </p:nvSpPr>
        <p:spPr>
          <a:xfrm>
            <a:off x="789303" y="2149757"/>
            <a:ext cx="1936608" cy="11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38"/>
              </a:lnSpc>
              <a:buNone/>
            </a:pPr>
            <a:r>
              <a:rPr lang="en-US" sz="9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2-1</a:t>
            </a:r>
            <a:endParaRPr lang="en-US" sz="900" dirty="0"/>
          </a:p>
        </p:txBody>
      </p:sp>
      <p:sp>
        <p:nvSpPr>
          <p:cNvPr id="32" name="Text 5"/>
          <p:cNvSpPr/>
          <p:nvPr/>
        </p:nvSpPr>
        <p:spPr>
          <a:xfrm>
            <a:off x="789303" y="2298682"/>
            <a:ext cx="3275070" cy="148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3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 기반 Zone 초안 설계</a:t>
            </a:r>
            <a:endParaRPr lang="en-US" sz="1050" dirty="0"/>
          </a:p>
        </p:txBody>
      </p:sp>
      <p:sp>
        <p:nvSpPr>
          <p:cNvPr id="33" name="Text 6"/>
          <p:cNvSpPr/>
          <p:nvPr/>
        </p:nvSpPr>
        <p:spPr>
          <a:xfrm>
            <a:off x="789303" y="2447607"/>
            <a:ext cx="1936608" cy="1571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 및 상권 분석</a:t>
            </a:r>
            <a:endParaRPr lang="en-US" sz="825" dirty="0"/>
          </a:p>
        </p:txBody>
      </p:sp>
      <p:sp>
        <p:nvSpPr>
          <p:cNvPr id="34" name="Text 7"/>
          <p:cNvSpPr/>
          <p:nvPr/>
        </p:nvSpPr>
        <p:spPr>
          <a:xfrm>
            <a:off x="3239702" y="2149757"/>
            <a:ext cx="1936608" cy="11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38"/>
              </a:lnSpc>
              <a:buNone/>
            </a:pPr>
            <a:r>
              <a:rPr lang="en-US" sz="9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2-2</a:t>
            </a:r>
            <a:endParaRPr lang="en-US" sz="900" dirty="0"/>
          </a:p>
        </p:txBody>
      </p:sp>
      <p:sp>
        <p:nvSpPr>
          <p:cNvPr id="35" name="Text 8"/>
          <p:cNvSpPr/>
          <p:nvPr/>
        </p:nvSpPr>
        <p:spPr>
          <a:xfrm>
            <a:off x="3239702" y="2298682"/>
            <a:ext cx="1936608" cy="148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3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 실현성 검토</a:t>
            </a:r>
            <a:endParaRPr lang="en-US" sz="1050" dirty="0"/>
          </a:p>
        </p:txBody>
      </p:sp>
      <p:sp>
        <p:nvSpPr>
          <p:cNvPr id="36" name="Text 9"/>
          <p:cNvSpPr/>
          <p:nvPr/>
        </p:nvSpPr>
        <p:spPr>
          <a:xfrm>
            <a:off x="3239702" y="2447607"/>
            <a:ext cx="2251609" cy="1571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Capa/동선/협력사 확보</a:t>
            </a:r>
            <a:endParaRPr lang="en-US" sz="825" dirty="0"/>
          </a:p>
        </p:txBody>
      </p:sp>
      <p:sp>
        <p:nvSpPr>
          <p:cNvPr id="37" name="Text 10"/>
          <p:cNvSpPr/>
          <p:nvPr/>
        </p:nvSpPr>
        <p:spPr>
          <a:xfrm>
            <a:off x="5690102" y="2149757"/>
            <a:ext cx="1936608" cy="11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38"/>
              </a:lnSpc>
              <a:buNone/>
            </a:pPr>
            <a:r>
              <a:rPr lang="en-US" sz="9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2-3</a:t>
            </a:r>
            <a:endParaRPr lang="en-US" sz="900" dirty="0"/>
          </a:p>
        </p:txBody>
      </p:sp>
      <p:sp>
        <p:nvSpPr>
          <p:cNvPr id="38" name="Text 11"/>
          <p:cNvSpPr/>
          <p:nvPr/>
        </p:nvSpPr>
        <p:spPr>
          <a:xfrm>
            <a:off x="5690102" y="2298682"/>
            <a:ext cx="3070378" cy="148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3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Zone 확정 및 정책 생성</a:t>
            </a:r>
            <a:endParaRPr lang="en-US" sz="1050" dirty="0"/>
          </a:p>
        </p:txBody>
      </p:sp>
      <p:sp>
        <p:nvSpPr>
          <p:cNvPr id="39" name="Text 12"/>
          <p:cNvSpPr/>
          <p:nvPr/>
        </p:nvSpPr>
        <p:spPr>
          <a:xfrm>
            <a:off x="5690102" y="2447607"/>
            <a:ext cx="1936608" cy="1571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인트라 관리정책 저장</a:t>
            </a:r>
            <a:endParaRPr lang="en-US" sz="825" dirty="0"/>
          </a:p>
        </p:txBody>
      </p:sp>
      <p:sp>
        <p:nvSpPr>
          <p:cNvPr id="40" name="Text 13"/>
          <p:cNvSpPr/>
          <p:nvPr/>
        </p:nvSpPr>
        <p:spPr>
          <a:xfrm>
            <a:off x="975459" y="3230278"/>
            <a:ext cx="7016000" cy="20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42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조직별 주요 활동</a:t>
            </a:r>
            <a:endParaRPr lang="en-US" sz="1350" dirty="0"/>
          </a:p>
        </p:txBody>
      </p:sp>
      <p:sp>
        <p:nvSpPr>
          <p:cNvPr id="41" name="Text 14"/>
          <p:cNvSpPr/>
          <p:nvPr/>
        </p:nvSpPr>
        <p:spPr>
          <a:xfrm>
            <a:off x="819088" y="3557913"/>
            <a:ext cx="410040" cy="32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</a:t>
            </a:r>
            <a:endParaRPr lang="en-US" sz="1050" dirty="0"/>
          </a:p>
        </p:txBody>
      </p:sp>
      <p:sp>
        <p:nvSpPr>
          <p:cNvPr id="42" name="Text 15"/>
          <p:cNvSpPr/>
          <p:nvPr/>
        </p:nvSpPr>
        <p:spPr>
          <a:xfrm>
            <a:off x="1533928" y="3557913"/>
            <a:ext cx="5996360" cy="32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활동 (Key Activities)</a:t>
            </a:r>
            <a:endParaRPr lang="en-US" sz="1050" dirty="0"/>
          </a:p>
        </p:txBody>
      </p:sp>
      <p:sp>
        <p:nvSpPr>
          <p:cNvPr id="43" name="Text 16"/>
          <p:cNvSpPr/>
          <p:nvPr/>
        </p:nvSpPr>
        <p:spPr>
          <a:xfrm>
            <a:off x="819088" y="3885549"/>
            <a:ext cx="410040" cy="56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3"/>
              </a:lnSpc>
              <a:buNone/>
            </a:pPr>
            <a:r>
              <a:rPr lang="en-US" sz="105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 (주도)</a:t>
            </a:r>
            <a:endParaRPr lang="en-US" sz="1050" dirty="0"/>
          </a:p>
        </p:txBody>
      </p:sp>
      <p:sp>
        <p:nvSpPr>
          <p:cNvPr id="44" name="Text 17"/>
          <p:cNvSpPr/>
          <p:nvPr/>
        </p:nvSpPr>
        <p:spPr>
          <a:xfrm>
            <a:off x="1726833" y="4004688"/>
            <a:ext cx="6062879" cy="148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 권역 분석 및 상권 기반 Zone 설계</a:t>
            </a:r>
            <a:endParaRPr lang="en-US" sz="1050" dirty="0"/>
          </a:p>
        </p:txBody>
      </p:sp>
      <p:sp>
        <p:nvSpPr>
          <p:cNvPr id="45" name="Text 18"/>
          <p:cNvSpPr/>
          <p:nvPr/>
        </p:nvSpPr>
        <p:spPr>
          <a:xfrm>
            <a:off x="1726833" y="4183399"/>
            <a:ext cx="6062879" cy="148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관리정책 초안 수립</a:t>
            </a:r>
            <a:endParaRPr lang="en-US" sz="1050" dirty="0"/>
          </a:p>
        </p:txBody>
      </p:sp>
      <p:sp>
        <p:nvSpPr>
          <p:cNvPr id="46" name="Text 19"/>
          <p:cNvSpPr/>
          <p:nvPr/>
        </p:nvSpPr>
        <p:spPr>
          <a:xfrm>
            <a:off x="819088" y="4451464"/>
            <a:ext cx="410040" cy="56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3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(검토)</a:t>
            </a:r>
            <a:endParaRPr lang="en-US" sz="1050" dirty="0"/>
          </a:p>
        </p:txBody>
      </p:sp>
      <p:sp>
        <p:nvSpPr>
          <p:cNvPr id="47" name="Text 20"/>
          <p:cNvSpPr/>
          <p:nvPr/>
        </p:nvSpPr>
        <p:spPr>
          <a:xfrm>
            <a:off x="1726833" y="4570604"/>
            <a:ext cx="6062879" cy="148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배송 동선 및 Capa 검증 (협력사 확보 가능성)</a:t>
            </a:r>
            <a:endParaRPr lang="en-US" sz="1050" dirty="0"/>
          </a:p>
        </p:txBody>
      </p:sp>
      <p:sp>
        <p:nvSpPr>
          <p:cNvPr id="48" name="Text 21"/>
          <p:cNvSpPr/>
          <p:nvPr/>
        </p:nvSpPr>
        <p:spPr>
          <a:xfrm>
            <a:off x="1726833" y="4749314"/>
            <a:ext cx="6062879" cy="148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실행 관점 조정 피드백 제공</a:t>
            </a:r>
            <a:endParaRPr lang="en-US" sz="1050" dirty="0"/>
          </a:p>
        </p:txBody>
      </p:sp>
      <p:sp>
        <p:nvSpPr>
          <p:cNvPr id="49" name="Text 22"/>
          <p:cNvSpPr/>
          <p:nvPr/>
        </p:nvSpPr>
        <p:spPr>
          <a:xfrm>
            <a:off x="819088" y="5017379"/>
            <a:ext cx="410040" cy="56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3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(조율)</a:t>
            </a:r>
            <a:endParaRPr lang="en-US" sz="1050" dirty="0"/>
          </a:p>
        </p:txBody>
      </p:sp>
      <p:sp>
        <p:nvSpPr>
          <p:cNvPr id="50" name="Text 23"/>
          <p:cNvSpPr/>
          <p:nvPr/>
        </p:nvSpPr>
        <p:spPr>
          <a:xfrm>
            <a:off x="1726833" y="5136519"/>
            <a:ext cx="6062879" cy="148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Zone 설계 기준 가이드 제공 및 최종 승인</a:t>
            </a:r>
            <a:endParaRPr lang="en-US" sz="1050" dirty="0"/>
          </a:p>
        </p:txBody>
      </p:sp>
      <p:sp>
        <p:nvSpPr>
          <p:cNvPr id="51" name="Text 24"/>
          <p:cNvSpPr/>
          <p:nvPr/>
        </p:nvSpPr>
        <p:spPr>
          <a:xfrm>
            <a:off x="1726833" y="5315229"/>
            <a:ext cx="6062879" cy="148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영업-운영 간 상충 의견 조율</a:t>
            </a:r>
            <a:endParaRPr lang="en-US" sz="1050" dirty="0"/>
          </a:p>
        </p:txBody>
      </p:sp>
      <p:sp>
        <p:nvSpPr>
          <p:cNvPr id="52" name="Text 25"/>
          <p:cNvSpPr/>
          <p:nvPr/>
        </p:nvSpPr>
        <p:spPr>
          <a:xfrm>
            <a:off x="8557375" y="1732767"/>
            <a:ext cx="3239935" cy="297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42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</a:t>
            </a:r>
            <a:endParaRPr lang="en-US" sz="1500" dirty="0"/>
          </a:p>
        </p:txBody>
      </p:sp>
      <p:sp>
        <p:nvSpPr>
          <p:cNvPr id="53" name="Text 26"/>
          <p:cNvSpPr/>
          <p:nvPr/>
        </p:nvSpPr>
        <p:spPr>
          <a:xfrm>
            <a:off x="8669069" y="2209327"/>
            <a:ext cx="3976884" cy="2286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권역 구획 맵 / Zone 목록</a:t>
            </a:r>
            <a:endParaRPr lang="en-US" sz="1200" dirty="0"/>
          </a:p>
        </p:txBody>
      </p:sp>
      <p:sp>
        <p:nvSpPr>
          <p:cNvPr id="54" name="Text 27"/>
          <p:cNvSpPr/>
          <p:nvPr/>
        </p:nvSpPr>
        <p:spPr>
          <a:xfrm>
            <a:off x="8669069" y="2467735"/>
            <a:ext cx="3684461" cy="11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38"/>
              </a:lnSpc>
              <a:buNone/>
            </a:pPr>
            <a:r>
              <a:rPr lang="en-US" sz="900" dirty="0">
                <a:solidFill>
                  <a:srgbClr val="A7F3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 작성 → 운영 검토 → 기획 승인</a:t>
            </a:r>
            <a:endParaRPr lang="en-US" sz="900" dirty="0"/>
          </a:p>
        </p:txBody>
      </p:sp>
      <p:sp>
        <p:nvSpPr>
          <p:cNvPr id="55" name="Text 28"/>
          <p:cNvSpPr/>
          <p:nvPr/>
        </p:nvSpPr>
        <p:spPr>
          <a:xfrm>
            <a:off x="8669069" y="2765585"/>
            <a:ext cx="1871475" cy="2286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인트라 관리정책</a:t>
            </a:r>
            <a:endParaRPr lang="en-US" sz="1200" dirty="0"/>
          </a:p>
        </p:txBody>
      </p:sp>
      <p:sp>
        <p:nvSpPr>
          <p:cNvPr id="56" name="Text 29"/>
          <p:cNvSpPr/>
          <p:nvPr/>
        </p:nvSpPr>
        <p:spPr>
          <a:xfrm>
            <a:off x="8669069" y="3023994"/>
            <a:ext cx="3859911" cy="11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38"/>
              </a:lnSpc>
              <a:buNone/>
            </a:pPr>
            <a:r>
              <a:rPr lang="en-US" sz="900" dirty="0">
                <a:solidFill>
                  <a:srgbClr val="A7F3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입력 → 기획 확인 (시스템 설정)</a:t>
            </a:r>
            <a:endParaRPr lang="en-US" sz="900" dirty="0"/>
          </a:p>
        </p:txBody>
      </p:sp>
      <p:sp>
        <p:nvSpPr>
          <p:cNvPr id="57" name="Text 30"/>
          <p:cNvSpPr/>
          <p:nvPr/>
        </p:nvSpPr>
        <p:spPr>
          <a:xfrm>
            <a:off x="8252078" y="3560124"/>
            <a:ext cx="3239935" cy="11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38"/>
              </a:lnSpc>
              <a:buNone/>
            </a:pPr>
            <a:r>
              <a:rPr lang="en-US" sz="900" b="1" spc="92" kern="0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확정 시점</a:t>
            </a:r>
            <a:endParaRPr lang="en-US" sz="900" dirty="0"/>
          </a:p>
        </p:txBody>
      </p:sp>
      <p:sp>
        <p:nvSpPr>
          <p:cNvPr id="58" name="Text 31"/>
          <p:cNvSpPr/>
          <p:nvPr/>
        </p:nvSpPr>
        <p:spPr>
          <a:xfrm>
            <a:off x="8512697" y="3738834"/>
            <a:ext cx="3742944" cy="23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76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L-3주 리뷰 미팅</a:t>
            </a:r>
            <a:endParaRPr lang="en-US" sz="1800" dirty="0"/>
          </a:p>
        </p:txBody>
      </p:sp>
      <p:sp>
        <p:nvSpPr>
          <p:cNvPr id="59" name="Text 32"/>
          <p:cNvSpPr/>
          <p:nvPr/>
        </p:nvSpPr>
        <p:spPr>
          <a:xfrm>
            <a:off x="8311648" y="5945601"/>
            <a:ext cx="3359075" cy="1291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38"/>
              </a:lnSpc>
              <a:buNone/>
            </a:pPr>
            <a:r>
              <a:rPr lang="en-US" sz="9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핵심 성공 포인트</a:t>
            </a:r>
            <a:endParaRPr lang="en-US" sz="900" dirty="0"/>
          </a:p>
        </p:txBody>
      </p:sp>
      <p:sp>
        <p:nvSpPr>
          <p:cNvPr id="60" name="Text 33"/>
          <p:cNvSpPr/>
          <p:nvPr/>
        </p:nvSpPr>
        <p:spPr>
          <a:xfrm>
            <a:off x="8192509" y="6104532"/>
            <a:ext cx="3359075" cy="2620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'Sales First' 기반의 설계와 'Operational Feasibility'의 균형을 맞추어 현장 혼선을 최소화합니다.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76250"/>
            <a:ext cx="10668000" cy="7239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4050" y="476250"/>
            <a:ext cx="1885950" cy="342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581150"/>
            <a:ext cx="3352800" cy="186928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180975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563" y="1905000"/>
            <a:ext cx="219075" cy="190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" y="2381250"/>
            <a:ext cx="114300" cy="17859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2712244"/>
            <a:ext cx="114300" cy="17859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3043238"/>
            <a:ext cx="114300" cy="17859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9600" y="1581150"/>
            <a:ext cx="3352800" cy="1869281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8200" y="180975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19638" y="1905000"/>
            <a:ext cx="238125" cy="1905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48200" y="2381250"/>
            <a:ext cx="114300" cy="178594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48200" y="2712244"/>
            <a:ext cx="114300" cy="178594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48200" y="3043238"/>
            <a:ext cx="114300" cy="178594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77200" y="1581150"/>
            <a:ext cx="3352800" cy="1869281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5800" y="1809750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01050" y="1905000"/>
            <a:ext cx="190500" cy="1905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5800" y="2381250"/>
            <a:ext cx="114300" cy="178594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5800" y="2712244"/>
            <a:ext cx="114300" cy="178594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05800" y="3043238"/>
            <a:ext cx="114300" cy="178594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2000" y="3831431"/>
            <a:ext cx="10668000" cy="1647825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66800" y="4183856"/>
            <a:ext cx="219075" cy="17145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6800" y="4631531"/>
            <a:ext cx="457200" cy="542925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81100" y="4745831"/>
            <a:ext cx="228600" cy="3048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572000" y="4631531"/>
            <a:ext cx="3048000" cy="542925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029200" y="4631531"/>
            <a:ext cx="457200" cy="542925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143500" y="4745831"/>
            <a:ext cx="228600" cy="3048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077200" y="4631531"/>
            <a:ext cx="3048000" cy="542925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34400" y="4631531"/>
            <a:ext cx="533400" cy="542925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648700" y="4745831"/>
            <a:ext cx="304800" cy="3048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990600" y="476250"/>
            <a:ext cx="10149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3. 원/판가 기획 및 수익성 검증</a:t>
            </a:r>
            <a:endParaRPr lang="en-US" sz="2700" dirty="0"/>
          </a:p>
        </p:txBody>
      </p:sp>
      <p:sp>
        <p:nvSpPr>
          <p:cNvPr id="34" name="Text 1"/>
          <p:cNvSpPr/>
          <p:nvPr/>
        </p:nvSpPr>
        <p:spPr>
          <a:xfrm>
            <a:off x="990600" y="933450"/>
            <a:ext cx="7543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"시장 경쟁력과 수익성의 균형을 맞추는 핵심 의사결정 단계"</a:t>
            </a:r>
            <a:endParaRPr lang="en-US" sz="1500" dirty="0"/>
          </a:p>
        </p:txBody>
      </p:sp>
      <p:sp>
        <p:nvSpPr>
          <p:cNvPr id="35" name="Text 2"/>
          <p:cNvSpPr/>
          <p:nvPr/>
        </p:nvSpPr>
        <p:spPr>
          <a:xfrm>
            <a:off x="9696450" y="476250"/>
            <a:ext cx="33539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Timeline: L-3주 ~ L-2.5주</a:t>
            </a:r>
            <a:endParaRPr lang="en-US" sz="1050" dirty="0"/>
          </a:p>
        </p:txBody>
      </p:sp>
      <p:sp>
        <p:nvSpPr>
          <p:cNvPr id="36" name="Text 3"/>
          <p:cNvSpPr/>
          <p:nvPr/>
        </p:nvSpPr>
        <p:spPr>
          <a:xfrm>
            <a:off x="1485900" y="186690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 (판가 주도)</a:t>
            </a:r>
            <a:endParaRPr lang="en-US" sz="1500" dirty="0"/>
          </a:p>
        </p:txBody>
      </p:sp>
      <p:sp>
        <p:nvSpPr>
          <p:cNvPr id="37" name="Text 4"/>
          <p:cNvSpPr/>
          <p:nvPr/>
        </p:nvSpPr>
        <p:spPr>
          <a:xfrm>
            <a:off x="1181100" y="2343150"/>
            <a:ext cx="288036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 배달비 및 상권 단가 조사</a:t>
            </a:r>
            <a:endParaRPr lang="en-US" sz="1050" dirty="0"/>
          </a:p>
        </p:txBody>
      </p:sp>
      <p:sp>
        <p:nvSpPr>
          <p:cNvPr id="38" name="Text 5"/>
          <p:cNvSpPr/>
          <p:nvPr/>
        </p:nvSpPr>
        <p:spPr>
          <a:xfrm>
            <a:off x="1181100" y="2674144"/>
            <a:ext cx="304038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상점 지불의사 기반 판가 초안 수립</a:t>
            </a:r>
            <a:endParaRPr lang="en-US" sz="1050" dirty="0"/>
          </a:p>
        </p:txBody>
      </p:sp>
      <p:sp>
        <p:nvSpPr>
          <p:cNvPr id="39" name="Text 6"/>
          <p:cNvSpPr/>
          <p:nvPr/>
        </p:nvSpPr>
        <p:spPr>
          <a:xfrm>
            <a:off x="1181100" y="3005138"/>
            <a:ext cx="304038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지역별/상권별 차등 판가 정책 확정</a:t>
            </a:r>
            <a:endParaRPr lang="en-US" sz="1050" dirty="0"/>
          </a:p>
        </p:txBody>
      </p:sp>
      <p:sp>
        <p:nvSpPr>
          <p:cNvPr id="40" name="Text 7"/>
          <p:cNvSpPr/>
          <p:nvPr/>
        </p:nvSpPr>
        <p:spPr>
          <a:xfrm>
            <a:off x="5143500" y="186690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(원가 주도)</a:t>
            </a:r>
            <a:endParaRPr lang="en-US" sz="1500" dirty="0"/>
          </a:p>
        </p:txBody>
      </p:sp>
      <p:sp>
        <p:nvSpPr>
          <p:cNvPr id="41" name="Text 8"/>
          <p:cNvSpPr/>
          <p:nvPr/>
        </p:nvSpPr>
        <p:spPr>
          <a:xfrm>
            <a:off x="4838700" y="2343150"/>
            <a:ext cx="304038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배송 기사 원가 산출 및 구조 설계</a:t>
            </a:r>
            <a:endParaRPr lang="en-US" sz="1050" dirty="0"/>
          </a:p>
        </p:txBody>
      </p:sp>
      <p:sp>
        <p:nvSpPr>
          <p:cNvPr id="42" name="Text 9"/>
          <p:cNvSpPr/>
          <p:nvPr/>
        </p:nvSpPr>
        <p:spPr>
          <a:xfrm>
            <a:off x="4838700" y="2674144"/>
            <a:ext cx="304038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요금제 및 보상/인센티브 기준 수립</a:t>
            </a:r>
            <a:endParaRPr lang="en-US" sz="1050" dirty="0"/>
          </a:p>
        </p:txBody>
      </p:sp>
      <p:sp>
        <p:nvSpPr>
          <p:cNvPr id="43" name="Text 10"/>
          <p:cNvSpPr/>
          <p:nvPr/>
        </p:nvSpPr>
        <p:spPr>
          <a:xfrm>
            <a:off x="4838700" y="3005138"/>
            <a:ext cx="272034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인트라 내 원가/보상 설정 입력</a:t>
            </a:r>
            <a:endParaRPr lang="en-US" sz="1050" dirty="0"/>
          </a:p>
        </p:txBody>
      </p:sp>
      <p:sp>
        <p:nvSpPr>
          <p:cNvPr id="44" name="Text 11"/>
          <p:cNvSpPr/>
          <p:nvPr/>
        </p:nvSpPr>
        <p:spPr>
          <a:xfrm>
            <a:off x="8801100" y="186690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(조율/검증)</a:t>
            </a:r>
            <a:endParaRPr lang="en-US" sz="1500" dirty="0"/>
          </a:p>
        </p:txBody>
      </p:sp>
      <p:sp>
        <p:nvSpPr>
          <p:cNvPr id="45" name="Text 12"/>
          <p:cNvSpPr/>
          <p:nvPr/>
        </p:nvSpPr>
        <p:spPr>
          <a:xfrm>
            <a:off x="8496300" y="2343150"/>
            <a:ext cx="320040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원/판가 정합성 및 P&amp;L 시뮬레이션</a:t>
            </a:r>
            <a:endParaRPr lang="en-US" sz="1050" dirty="0"/>
          </a:p>
        </p:txBody>
      </p:sp>
      <p:sp>
        <p:nvSpPr>
          <p:cNvPr id="46" name="Text 13"/>
          <p:cNvSpPr/>
          <p:nvPr/>
        </p:nvSpPr>
        <p:spPr>
          <a:xfrm>
            <a:off x="8496300" y="2674144"/>
            <a:ext cx="288036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수익성 미달 시 정책 재조정</a:t>
            </a:r>
            <a:endParaRPr lang="en-US" sz="1050" dirty="0"/>
          </a:p>
        </p:txBody>
      </p:sp>
      <p:sp>
        <p:nvSpPr>
          <p:cNvPr id="47" name="Text 14"/>
          <p:cNvSpPr/>
          <p:nvPr/>
        </p:nvSpPr>
        <p:spPr>
          <a:xfrm>
            <a:off x="8496300" y="3005138"/>
            <a:ext cx="240030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시나리오 승인 및 확정</a:t>
            </a:r>
            <a:endParaRPr lang="en-US" sz="1050" dirty="0"/>
          </a:p>
        </p:txBody>
      </p:sp>
      <p:sp>
        <p:nvSpPr>
          <p:cNvPr id="48" name="Text 15"/>
          <p:cNvSpPr/>
          <p:nvPr/>
        </p:nvSpPr>
        <p:spPr>
          <a:xfrm>
            <a:off x="1362075" y="4136231"/>
            <a:ext cx="1005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 (Step 3 Output)</a:t>
            </a:r>
            <a:endParaRPr lang="en-US" sz="1350" dirty="0"/>
          </a:p>
        </p:txBody>
      </p:sp>
      <p:sp>
        <p:nvSpPr>
          <p:cNvPr id="49" name="Text 16"/>
          <p:cNvSpPr/>
          <p:nvPr/>
        </p:nvSpPr>
        <p:spPr>
          <a:xfrm>
            <a:off x="1676400" y="4631531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권역별 원/판가표</a:t>
            </a:r>
            <a:endParaRPr lang="en-US" sz="1200" dirty="0"/>
          </a:p>
        </p:txBody>
      </p:sp>
      <p:sp>
        <p:nvSpPr>
          <p:cNvPr id="50" name="Text 17"/>
          <p:cNvSpPr/>
          <p:nvPr/>
        </p:nvSpPr>
        <p:spPr>
          <a:xfrm>
            <a:off x="1676400" y="4898231"/>
            <a:ext cx="2194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영업+운영 작성 / 기획 승인</a:t>
            </a:r>
            <a:endParaRPr lang="en-US" sz="900" dirty="0"/>
          </a:p>
        </p:txBody>
      </p:sp>
      <p:sp>
        <p:nvSpPr>
          <p:cNvPr id="51" name="Text 18"/>
          <p:cNvSpPr/>
          <p:nvPr/>
        </p:nvSpPr>
        <p:spPr>
          <a:xfrm>
            <a:off x="5638800" y="4631531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수익성 시뮬레이션</a:t>
            </a:r>
            <a:endParaRPr lang="en-US" sz="1200" dirty="0"/>
          </a:p>
        </p:txBody>
      </p:sp>
      <p:sp>
        <p:nvSpPr>
          <p:cNvPr id="52" name="Text 19"/>
          <p:cNvSpPr/>
          <p:nvPr/>
        </p:nvSpPr>
        <p:spPr>
          <a:xfrm>
            <a:off x="5638800" y="4898231"/>
            <a:ext cx="2057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주도 P&amp;L 검증 결과</a:t>
            </a:r>
            <a:endParaRPr lang="en-US" sz="900" dirty="0"/>
          </a:p>
        </p:txBody>
      </p:sp>
      <p:sp>
        <p:nvSpPr>
          <p:cNvPr id="53" name="Text 20"/>
          <p:cNvSpPr/>
          <p:nvPr/>
        </p:nvSpPr>
        <p:spPr>
          <a:xfrm>
            <a:off x="9220200" y="4631531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인트라 원가/보상 설정</a:t>
            </a:r>
            <a:endParaRPr lang="en-US" sz="1200" dirty="0"/>
          </a:p>
        </p:txBody>
      </p:sp>
      <p:sp>
        <p:nvSpPr>
          <p:cNvPr id="54" name="Text 21"/>
          <p:cNvSpPr/>
          <p:nvPr/>
        </p:nvSpPr>
        <p:spPr>
          <a:xfrm>
            <a:off x="9220200" y="4898231"/>
            <a:ext cx="2194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입력 / 기획 최종 확인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78" y="333236"/>
            <a:ext cx="11125609" cy="66647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178" y="1266297"/>
            <a:ext cx="193277" cy="19036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178" y="1589953"/>
            <a:ext cx="3601866" cy="140146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7545" y="1749906"/>
            <a:ext cx="693131" cy="15995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7475" y="1989836"/>
            <a:ext cx="213271" cy="23993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4997" y="1589953"/>
            <a:ext cx="3601866" cy="140146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9365" y="1749906"/>
            <a:ext cx="693132" cy="15995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5983" y="1989836"/>
            <a:ext cx="359895" cy="23993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6817" y="1589953"/>
            <a:ext cx="3601867" cy="1401466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11185" y="1749906"/>
            <a:ext cx="693131" cy="159953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31121" y="1989836"/>
            <a:ext cx="253260" cy="23993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178" y="3258008"/>
            <a:ext cx="239930" cy="19036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178" y="3581664"/>
            <a:ext cx="11125609" cy="176698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178" y="3581664"/>
            <a:ext cx="11125609" cy="441746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3178" y="4465156"/>
            <a:ext cx="11125609" cy="441746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3178" y="4906902"/>
            <a:ext cx="11125609" cy="441746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3178" y="5938268"/>
            <a:ext cx="11125609" cy="586496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6472" y="6124881"/>
            <a:ext cx="286583" cy="213271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72437" y="6071563"/>
            <a:ext cx="953056" cy="319907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693131" y="333236"/>
            <a:ext cx="10965656" cy="1332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50"/>
              </a:lnSpc>
              <a:buNone/>
            </a:pPr>
            <a:r>
              <a:rPr lang="en-US" sz="1050" b="1" spc="120" kern="0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4-1</a:t>
            </a:r>
            <a:endParaRPr lang="en-US" sz="1050" dirty="0"/>
          </a:p>
        </p:txBody>
      </p:sp>
      <p:sp>
        <p:nvSpPr>
          <p:cNvPr id="23" name="Text 1"/>
          <p:cNvSpPr/>
          <p:nvPr/>
        </p:nvSpPr>
        <p:spPr>
          <a:xfrm>
            <a:off x="693131" y="493190"/>
            <a:ext cx="10965656" cy="2665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99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 목표 물량 확정</a:t>
            </a:r>
            <a:endParaRPr lang="en-US" sz="2700" dirty="0"/>
          </a:p>
        </p:txBody>
      </p:sp>
      <p:sp>
        <p:nvSpPr>
          <p:cNvPr id="24" name="Text 2"/>
          <p:cNvSpPr/>
          <p:nvPr/>
        </p:nvSpPr>
        <p:spPr>
          <a:xfrm>
            <a:off x="693131" y="813096"/>
            <a:ext cx="14407801" cy="1866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9"/>
              </a:lnSpc>
              <a:buNone/>
            </a:pPr>
            <a:r>
              <a:rPr lang="en-US" sz="1350" i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"기획 초안 하달 → 현장 협의 → 최종 확정의 프로세스를 통한 실행 가능한 목표 수립"</a:t>
            </a:r>
            <a:endParaRPr lang="en-US" sz="1350" dirty="0"/>
          </a:p>
        </p:txBody>
      </p:sp>
      <p:sp>
        <p:nvSpPr>
          <p:cNvPr id="25" name="Text 3"/>
          <p:cNvSpPr/>
          <p:nvPr/>
        </p:nvSpPr>
        <p:spPr>
          <a:xfrm>
            <a:off x="806432" y="1266297"/>
            <a:ext cx="11125609" cy="1903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9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프로세스</a:t>
            </a:r>
            <a:endParaRPr lang="en-US" sz="1500" dirty="0"/>
          </a:p>
        </p:txBody>
      </p:sp>
      <p:sp>
        <p:nvSpPr>
          <p:cNvPr id="26" name="Text 4"/>
          <p:cNvSpPr/>
          <p:nvPr/>
        </p:nvSpPr>
        <p:spPr>
          <a:xfrm>
            <a:off x="1606732" y="1749906"/>
            <a:ext cx="1226158" cy="1599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01</a:t>
            </a:r>
            <a:endParaRPr lang="en-US" sz="900" dirty="0"/>
          </a:p>
        </p:txBody>
      </p:sp>
      <p:sp>
        <p:nvSpPr>
          <p:cNvPr id="27" name="Text 5"/>
          <p:cNvSpPr/>
          <p:nvPr/>
        </p:nvSpPr>
        <p:spPr>
          <a:xfrm>
            <a:off x="896596" y="2309743"/>
            <a:ext cx="2875030" cy="22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오더 초안 하달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1594327" y="2564877"/>
            <a:ext cx="1479569" cy="2665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기획팀에서 Zone별/주차별</a:t>
            </a:r>
            <a:pPr algn="ctr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초안 작성 및 공유</a:t>
            </a:r>
            <a:endParaRPr lang="en-US" sz="1050" dirty="0"/>
          </a:p>
        </p:txBody>
      </p:sp>
      <p:sp>
        <p:nvSpPr>
          <p:cNvPr id="29" name="Text 7"/>
          <p:cNvSpPr/>
          <p:nvPr/>
        </p:nvSpPr>
        <p:spPr>
          <a:xfrm>
            <a:off x="5368551" y="1749906"/>
            <a:ext cx="1226159" cy="1599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02</a:t>
            </a:r>
            <a:endParaRPr lang="en-US" sz="900" dirty="0"/>
          </a:p>
        </p:txBody>
      </p:sp>
      <p:sp>
        <p:nvSpPr>
          <p:cNvPr id="30" name="Text 8"/>
          <p:cNvSpPr/>
          <p:nvPr/>
        </p:nvSpPr>
        <p:spPr>
          <a:xfrm>
            <a:off x="4658416" y="2309743"/>
            <a:ext cx="2875030" cy="22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 현장 의견 수렴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5276170" y="2564877"/>
            <a:ext cx="1639522" cy="2665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영업팀에서 파이프라인 및</a:t>
            </a:r>
            <a:pPr algn="ctr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상황 기반 조정 의견 제시</a:t>
            </a:r>
            <a:endParaRPr lang="en-US" sz="1050" dirty="0"/>
          </a:p>
        </p:txBody>
      </p:sp>
      <p:sp>
        <p:nvSpPr>
          <p:cNvPr id="32" name="Text 10"/>
          <p:cNvSpPr/>
          <p:nvPr/>
        </p:nvSpPr>
        <p:spPr>
          <a:xfrm>
            <a:off x="9130371" y="1749906"/>
            <a:ext cx="1226158" cy="1599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03</a:t>
            </a:r>
            <a:endParaRPr lang="en-US" sz="900" dirty="0"/>
          </a:p>
        </p:txBody>
      </p:sp>
      <p:sp>
        <p:nvSpPr>
          <p:cNvPr id="33" name="Text 11"/>
          <p:cNvSpPr/>
          <p:nvPr/>
        </p:nvSpPr>
        <p:spPr>
          <a:xfrm>
            <a:off x="8812285" y="2309743"/>
            <a:ext cx="2090931" cy="22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목표 확정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9057984" y="2564877"/>
            <a:ext cx="1599533" cy="2665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기획팀에서 협의 결과 반영 및</a:t>
            </a:r>
            <a:pPr algn="ctr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오더 목표 확정</a:t>
            </a:r>
            <a:endParaRPr lang="en-US" sz="1050" dirty="0"/>
          </a:p>
        </p:txBody>
      </p:sp>
      <p:sp>
        <p:nvSpPr>
          <p:cNvPr id="35" name="Text 13"/>
          <p:cNvSpPr/>
          <p:nvPr/>
        </p:nvSpPr>
        <p:spPr>
          <a:xfrm>
            <a:off x="853085" y="3258008"/>
            <a:ext cx="11125609" cy="1903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9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조직별 핵심 활동</a:t>
            </a:r>
            <a:endParaRPr lang="en-US" sz="1500" dirty="0"/>
          </a:p>
        </p:txBody>
      </p:sp>
      <p:sp>
        <p:nvSpPr>
          <p:cNvPr id="36" name="Text 14"/>
          <p:cNvSpPr/>
          <p:nvPr/>
        </p:nvSpPr>
        <p:spPr>
          <a:xfrm>
            <a:off x="746449" y="3581664"/>
            <a:ext cx="2171776" cy="4417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3527825" y="3581664"/>
            <a:ext cx="7734633" cy="4417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활동 및 역할</a:t>
            </a:r>
            <a:endParaRPr lang="en-US" sz="1200" dirty="0"/>
          </a:p>
        </p:txBody>
      </p:sp>
      <p:sp>
        <p:nvSpPr>
          <p:cNvPr id="38" name="Text 16"/>
          <p:cNvSpPr/>
          <p:nvPr/>
        </p:nvSpPr>
        <p:spPr>
          <a:xfrm>
            <a:off x="746449" y="4023410"/>
            <a:ext cx="2171776" cy="4417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(주도)</a:t>
            </a:r>
            <a:endParaRPr lang="en-US" sz="1200" dirty="0"/>
          </a:p>
        </p:txBody>
      </p:sp>
      <p:sp>
        <p:nvSpPr>
          <p:cNvPr id="39" name="Text 17"/>
          <p:cNvSpPr/>
          <p:nvPr/>
        </p:nvSpPr>
        <p:spPr>
          <a:xfrm>
            <a:off x="3527825" y="4023410"/>
            <a:ext cx="9206331" cy="4417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Zone별/주차별 목표 오더 초안 작성 및 하달, 최종 확정 의사결정</a:t>
            </a:r>
            <a:endParaRPr lang="en-US" sz="1200" dirty="0"/>
          </a:p>
        </p:txBody>
      </p:sp>
      <p:sp>
        <p:nvSpPr>
          <p:cNvPr id="40" name="Text 18"/>
          <p:cNvSpPr/>
          <p:nvPr/>
        </p:nvSpPr>
        <p:spPr>
          <a:xfrm>
            <a:off x="746449" y="4465156"/>
            <a:ext cx="2171776" cy="4417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 (협의)</a:t>
            </a:r>
            <a:endParaRPr lang="en-US" sz="1200" dirty="0"/>
          </a:p>
        </p:txBody>
      </p:sp>
      <p:sp>
        <p:nvSpPr>
          <p:cNvPr id="41" name="Text 19"/>
          <p:cNvSpPr/>
          <p:nvPr/>
        </p:nvSpPr>
        <p:spPr>
          <a:xfrm>
            <a:off x="3527825" y="4465156"/>
            <a:ext cx="8237244" cy="4417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상점 파이프라인 기반 조정 의견 제시, 달성 가능성 검토</a:t>
            </a:r>
            <a:endParaRPr lang="en-US" sz="1200" dirty="0"/>
          </a:p>
        </p:txBody>
      </p:sp>
      <p:sp>
        <p:nvSpPr>
          <p:cNvPr id="42" name="Text 20"/>
          <p:cNvSpPr/>
          <p:nvPr/>
        </p:nvSpPr>
        <p:spPr>
          <a:xfrm>
            <a:off x="746449" y="4906902"/>
            <a:ext cx="2171776" cy="4417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(참고)</a:t>
            </a:r>
            <a:endParaRPr lang="en-US" sz="1200" dirty="0"/>
          </a:p>
        </p:txBody>
      </p:sp>
      <p:sp>
        <p:nvSpPr>
          <p:cNvPr id="43" name="Text 21"/>
          <p:cNvSpPr/>
          <p:nvPr/>
        </p:nvSpPr>
        <p:spPr>
          <a:xfrm>
            <a:off x="3527825" y="4906902"/>
            <a:ext cx="11467536" cy="4417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물량 대비 배송 Capa(기사 수급 계획) 의견 제시 (Step 4-2 연동)</a:t>
            </a:r>
            <a:endParaRPr lang="en-US" sz="1200" dirty="0"/>
          </a:p>
        </p:txBody>
      </p:sp>
      <p:sp>
        <p:nvSpPr>
          <p:cNvPr id="44" name="Text 22"/>
          <p:cNvSpPr/>
          <p:nvPr/>
        </p:nvSpPr>
        <p:spPr>
          <a:xfrm>
            <a:off x="1059691" y="6071563"/>
            <a:ext cx="2912484" cy="10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40"/>
              </a:lnSpc>
              <a:buNone/>
            </a:pPr>
            <a:r>
              <a:rPr lang="en-US" sz="900" b="1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</a:t>
            </a:r>
            <a:endParaRPr lang="en-US" sz="900" dirty="0"/>
          </a:p>
        </p:txBody>
      </p:sp>
      <p:sp>
        <p:nvSpPr>
          <p:cNvPr id="45" name="Text 23"/>
          <p:cNvSpPr/>
          <p:nvPr/>
        </p:nvSpPr>
        <p:spPr>
          <a:xfrm>
            <a:off x="1059691" y="6204857"/>
            <a:ext cx="7350919" cy="1866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9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Zone별 · 주차별 영업 목표(오더) 확정안</a:t>
            </a:r>
            <a:endParaRPr lang="en-US" sz="1350" dirty="0"/>
          </a:p>
        </p:txBody>
      </p:sp>
      <p:sp>
        <p:nvSpPr>
          <p:cNvPr id="46" name="Text 24"/>
          <p:cNvSpPr/>
          <p:nvPr/>
        </p:nvSpPr>
        <p:spPr>
          <a:xfrm>
            <a:off x="10545371" y="6071563"/>
            <a:ext cx="980123" cy="10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840"/>
              </a:lnSpc>
              <a:buNone/>
            </a:pPr>
            <a:r>
              <a:rPr lang="en-US" sz="900" b="1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확정 시점</a:t>
            </a:r>
            <a:endParaRPr lang="en-US" sz="900" dirty="0"/>
          </a:p>
        </p:txBody>
      </p:sp>
      <p:sp>
        <p:nvSpPr>
          <p:cNvPr id="47" name="Text 25"/>
          <p:cNvSpPr/>
          <p:nvPr/>
        </p:nvSpPr>
        <p:spPr>
          <a:xfrm>
            <a:off x="9271211" y="6204857"/>
            <a:ext cx="2254282" cy="1866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469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L-1주 이전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8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95" y="412139"/>
            <a:ext cx="11037996" cy="62645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95" y="1368303"/>
            <a:ext cx="3547361" cy="112539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851" y="1533159"/>
            <a:ext cx="263769" cy="26376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2184" y="1368303"/>
            <a:ext cx="3547490" cy="112539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7039" y="1533159"/>
            <a:ext cx="263769" cy="26376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7501" y="1368303"/>
            <a:ext cx="3547361" cy="112539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2356" y="1533159"/>
            <a:ext cx="263769" cy="26376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995" y="2853035"/>
            <a:ext cx="189584" cy="17142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995" y="3186095"/>
            <a:ext cx="5387049" cy="263331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6995" y="3186095"/>
            <a:ext cx="5387049" cy="362683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6995" y="3977403"/>
            <a:ext cx="5387049" cy="42862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6995" y="4406028"/>
            <a:ext cx="5387049" cy="42862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27813" y="2853035"/>
            <a:ext cx="189584" cy="171424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27813" y="3186095"/>
            <a:ext cx="5387178" cy="2633313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25640" y="3416893"/>
            <a:ext cx="148370" cy="152363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25640" y="4005738"/>
            <a:ext cx="148370" cy="152363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25640" y="4594582"/>
            <a:ext cx="148370" cy="152363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6995" y="6083178"/>
            <a:ext cx="11037996" cy="362683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21960" y="6198577"/>
            <a:ext cx="32971" cy="131885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774822" y="412139"/>
            <a:ext cx="12996672" cy="32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96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4-2. 기사 공급 목표 및 확보 계획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774822" y="807793"/>
            <a:ext cx="11623034" cy="23079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17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세트/프렌즈 공급 목표 확정 및 벤더 계약, 인트라 설정을 통한 런칭 준비 완료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832522" y="1533159"/>
            <a:ext cx="308187" cy="2637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98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3"/>
          <p:cNvSpPr/>
          <p:nvPr/>
        </p:nvSpPr>
        <p:spPr>
          <a:xfrm>
            <a:off x="1104534" y="1550803"/>
            <a:ext cx="1690625" cy="2284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초안 하달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741851" y="1895841"/>
            <a:ext cx="3217650" cy="43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기획팀에서 Zone별/주차별 세트 수 및 활성 프렌즈 목표 초안 하달</a:t>
            </a:r>
            <a:endParaRPr lang="en-US" sz="1050" dirty="0"/>
          </a:p>
        </p:txBody>
      </p:sp>
      <p:sp>
        <p:nvSpPr>
          <p:cNvPr id="27" name="Text 5"/>
          <p:cNvSpPr/>
          <p:nvPr/>
        </p:nvSpPr>
        <p:spPr>
          <a:xfrm>
            <a:off x="4577710" y="1533159"/>
            <a:ext cx="308187" cy="2637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98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6"/>
          <p:cNvSpPr/>
          <p:nvPr/>
        </p:nvSpPr>
        <p:spPr>
          <a:xfrm>
            <a:off x="4849722" y="1550803"/>
            <a:ext cx="1901953" cy="2284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 실현성 검토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4487039" y="1895841"/>
            <a:ext cx="3217779" cy="43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운영팀에서 벤더 확보 가능성 및 수급 계획을 바탕으로 조정 의견 제시</a:t>
            </a:r>
            <a:endParaRPr lang="en-US" sz="1050" dirty="0"/>
          </a:p>
        </p:txBody>
      </p:sp>
      <p:sp>
        <p:nvSpPr>
          <p:cNvPr id="30" name="Text 8"/>
          <p:cNvSpPr/>
          <p:nvPr/>
        </p:nvSpPr>
        <p:spPr>
          <a:xfrm>
            <a:off x="8323027" y="1533159"/>
            <a:ext cx="308187" cy="2637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98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Text 9"/>
          <p:cNvSpPr/>
          <p:nvPr/>
        </p:nvSpPr>
        <p:spPr>
          <a:xfrm>
            <a:off x="8595039" y="1550803"/>
            <a:ext cx="2113281" cy="2284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확정 및 세팅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8232356" y="1895841"/>
            <a:ext cx="3217650" cy="43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목표 확정 후 기획 완료 선언 및 인트라 시스템 설정(세트 분배)</a:t>
            </a:r>
            <a:endParaRPr lang="en-US" sz="1050" dirty="0"/>
          </a:p>
        </p:txBody>
      </p:sp>
      <p:sp>
        <p:nvSpPr>
          <p:cNvPr id="33" name="Text 11"/>
          <p:cNvSpPr/>
          <p:nvPr/>
        </p:nvSpPr>
        <p:spPr>
          <a:xfrm>
            <a:off x="832522" y="2823413"/>
            <a:ext cx="5387049" cy="23079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17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조직별 주요 활동</a:t>
            </a:r>
            <a:endParaRPr lang="en-US" sz="1350" dirty="0"/>
          </a:p>
        </p:txBody>
      </p:sp>
      <p:sp>
        <p:nvSpPr>
          <p:cNvPr id="34" name="Text 12"/>
          <p:cNvSpPr/>
          <p:nvPr/>
        </p:nvSpPr>
        <p:spPr>
          <a:xfrm>
            <a:off x="708880" y="3186095"/>
            <a:ext cx="486508" cy="3626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</a:t>
            </a:r>
            <a:endParaRPr lang="en-US" sz="1050" dirty="0"/>
          </a:p>
        </p:txBody>
      </p:sp>
      <p:sp>
        <p:nvSpPr>
          <p:cNvPr id="35" name="Text 13"/>
          <p:cNvSpPr/>
          <p:nvPr/>
        </p:nvSpPr>
        <p:spPr>
          <a:xfrm>
            <a:off x="1500188" y="3186095"/>
            <a:ext cx="4290941" cy="3626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활동</a:t>
            </a:r>
            <a:endParaRPr lang="en-US" sz="1050" dirty="0"/>
          </a:p>
        </p:txBody>
      </p:sp>
      <p:sp>
        <p:nvSpPr>
          <p:cNvPr id="36" name="Text 14"/>
          <p:cNvSpPr/>
          <p:nvPr/>
        </p:nvSpPr>
        <p:spPr>
          <a:xfrm>
            <a:off x="708880" y="3548778"/>
            <a:ext cx="48650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05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</a:t>
            </a:r>
            <a:endParaRPr lang="en-US" sz="1050" dirty="0"/>
          </a:p>
        </p:txBody>
      </p:sp>
      <p:sp>
        <p:nvSpPr>
          <p:cNvPr id="37" name="Text 15"/>
          <p:cNvSpPr/>
          <p:nvPr/>
        </p:nvSpPr>
        <p:spPr>
          <a:xfrm>
            <a:off x="1500188" y="3548778"/>
            <a:ext cx="569739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 목표 초안 하달, 협의 후 확정, 진출 기획 완료 선언</a:t>
            </a:r>
            <a:endParaRPr lang="en-US" sz="1050" dirty="0"/>
          </a:p>
        </p:txBody>
      </p:sp>
      <p:sp>
        <p:nvSpPr>
          <p:cNvPr id="38" name="Text 16"/>
          <p:cNvSpPr/>
          <p:nvPr/>
        </p:nvSpPr>
        <p:spPr>
          <a:xfrm>
            <a:off x="708880" y="3977403"/>
            <a:ext cx="48650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05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</a:t>
            </a:r>
            <a:endParaRPr lang="en-US" sz="1050" dirty="0"/>
          </a:p>
        </p:txBody>
      </p:sp>
      <p:sp>
        <p:nvSpPr>
          <p:cNvPr id="39" name="Text 17"/>
          <p:cNvSpPr/>
          <p:nvPr/>
        </p:nvSpPr>
        <p:spPr>
          <a:xfrm>
            <a:off x="1500188" y="3977403"/>
            <a:ext cx="60426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벤더/프렌즈 수급 검토, 계약 및 확보 계획 수립, 인트라 설정</a:t>
            </a:r>
            <a:endParaRPr lang="en-US" sz="1050" dirty="0"/>
          </a:p>
        </p:txBody>
      </p:sp>
      <p:sp>
        <p:nvSpPr>
          <p:cNvPr id="40" name="Text 18"/>
          <p:cNvSpPr/>
          <p:nvPr/>
        </p:nvSpPr>
        <p:spPr>
          <a:xfrm>
            <a:off x="708880" y="4406028"/>
            <a:ext cx="48650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05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</a:t>
            </a:r>
            <a:endParaRPr lang="en-US" sz="1050" dirty="0"/>
          </a:p>
        </p:txBody>
      </p:sp>
      <p:sp>
        <p:nvSpPr>
          <p:cNvPr id="41" name="Text 19"/>
          <p:cNvSpPr/>
          <p:nvPr/>
        </p:nvSpPr>
        <p:spPr>
          <a:xfrm>
            <a:off x="1500188" y="4406028"/>
            <a:ext cx="483415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050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 파이프라인 대비 공급 계획의 적절성 의견 제시</a:t>
            </a:r>
            <a:endParaRPr lang="en-US" sz="1050" dirty="0"/>
          </a:p>
        </p:txBody>
      </p:sp>
      <p:sp>
        <p:nvSpPr>
          <p:cNvPr id="42" name="Text 20"/>
          <p:cNvSpPr/>
          <p:nvPr/>
        </p:nvSpPr>
        <p:spPr>
          <a:xfrm>
            <a:off x="6483340" y="2823413"/>
            <a:ext cx="5387178" cy="23079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17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 (L-1주 이전 완료)</a:t>
            </a:r>
            <a:endParaRPr lang="en-US" sz="1350" dirty="0"/>
          </a:p>
        </p:txBody>
      </p:sp>
      <p:sp>
        <p:nvSpPr>
          <p:cNvPr id="43" name="Text 21"/>
          <p:cNvSpPr/>
          <p:nvPr/>
        </p:nvSpPr>
        <p:spPr>
          <a:xfrm>
            <a:off x="6672924" y="3383922"/>
            <a:ext cx="2242038" cy="2284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 목표 확정안</a:t>
            </a:r>
            <a:endParaRPr lang="en-US" sz="1200" dirty="0"/>
          </a:p>
        </p:txBody>
      </p:sp>
      <p:sp>
        <p:nvSpPr>
          <p:cNvPr id="44" name="Text 22"/>
          <p:cNvSpPr/>
          <p:nvPr/>
        </p:nvSpPr>
        <p:spPr>
          <a:xfrm>
            <a:off x="6672924" y="3653616"/>
            <a:ext cx="4437899" cy="1648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038"/>
              </a:lnSpc>
              <a:buNone/>
            </a:pPr>
            <a:r>
              <a:rPr lang="en-US" sz="900" dirty="0">
                <a:solidFill>
                  <a:srgbClr val="D1FAE5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Zone별·주차별 세트 수 및 활성 프렌즈 수 목표</a:t>
            </a:r>
            <a:endParaRPr lang="en-US" sz="900" dirty="0"/>
          </a:p>
        </p:txBody>
      </p:sp>
      <p:sp>
        <p:nvSpPr>
          <p:cNvPr id="45" name="Text 23"/>
          <p:cNvSpPr/>
          <p:nvPr/>
        </p:nvSpPr>
        <p:spPr>
          <a:xfrm>
            <a:off x="6672924" y="3972767"/>
            <a:ext cx="1805171" cy="2284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계획서</a:t>
            </a:r>
            <a:endParaRPr lang="en-US" sz="1200" dirty="0"/>
          </a:p>
        </p:txBody>
      </p:sp>
      <p:sp>
        <p:nvSpPr>
          <p:cNvPr id="46" name="Text 24"/>
          <p:cNvSpPr/>
          <p:nvPr/>
        </p:nvSpPr>
        <p:spPr>
          <a:xfrm>
            <a:off x="6672924" y="4242461"/>
            <a:ext cx="3328424" cy="1648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038"/>
              </a:lnSpc>
              <a:buNone/>
            </a:pPr>
            <a:r>
              <a:rPr lang="en-US" sz="900" dirty="0">
                <a:solidFill>
                  <a:srgbClr val="D1FAE5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 계약 계획 및 프렌즈 확보 구체안</a:t>
            </a:r>
            <a:endParaRPr lang="en-US" sz="900" dirty="0"/>
          </a:p>
        </p:txBody>
      </p:sp>
      <p:sp>
        <p:nvSpPr>
          <p:cNvPr id="47" name="Text 25"/>
          <p:cNvSpPr/>
          <p:nvPr/>
        </p:nvSpPr>
        <p:spPr>
          <a:xfrm>
            <a:off x="6672924" y="4561611"/>
            <a:ext cx="2316223" cy="2284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설정 완료</a:t>
            </a:r>
            <a:endParaRPr lang="en-US" sz="1200" dirty="0"/>
          </a:p>
        </p:txBody>
      </p:sp>
      <p:sp>
        <p:nvSpPr>
          <p:cNvPr id="48" name="Text 26"/>
          <p:cNvSpPr/>
          <p:nvPr/>
        </p:nvSpPr>
        <p:spPr>
          <a:xfrm>
            <a:off x="6672924" y="4831305"/>
            <a:ext cx="4596395" cy="1648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038"/>
              </a:lnSpc>
              <a:buNone/>
            </a:pPr>
            <a:r>
              <a:rPr lang="en-US" sz="900" dirty="0">
                <a:solidFill>
                  <a:srgbClr val="D1FAE5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인트라 내 세트분배 설정 (운영 입력 / 기획 확인)</a:t>
            </a:r>
            <a:endParaRPr lang="en-US" sz="900" dirty="0"/>
          </a:p>
        </p:txBody>
      </p:sp>
      <p:sp>
        <p:nvSpPr>
          <p:cNvPr id="49" name="Text 27"/>
          <p:cNvSpPr/>
          <p:nvPr/>
        </p:nvSpPr>
        <p:spPr>
          <a:xfrm>
            <a:off x="774822" y="6182091"/>
            <a:ext cx="7273215" cy="1648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98"/>
              </a:lnSpc>
              <a:buNone/>
            </a:pPr>
            <a:r>
              <a:rPr lang="en-US" sz="1050" b="1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"Step 4-2 완료 시 진출 기획 단계 종료 및 런칭 단계 전환"</a:t>
            </a:r>
            <a:endParaRPr lang="en-US" sz="1050" dirty="0"/>
          </a:p>
        </p:txBody>
      </p:sp>
      <p:sp>
        <p:nvSpPr>
          <p:cNvPr id="50" name="Text 28"/>
          <p:cNvSpPr/>
          <p:nvPr/>
        </p:nvSpPr>
        <p:spPr>
          <a:xfrm>
            <a:off x="8548674" y="6198577"/>
            <a:ext cx="3169928" cy="13188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38"/>
              </a:lnSpc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확정 주체: 기획 (운영 협의 기반)</a:t>
            </a:r>
            <a:endParaRPr lang="en-US" sz="900" dirty="0"/>
          </a:p>
        </p:txBody>
      </p:sp>
      <p:sp>
        <p:nvSpPr>
          <p:cNvPr id="51" name="Text 29"/>
          <p:cNvSpPr/>
          <p:nvPr/>
        </p:nvSpPr>
        <p:spPr>
          <a:xfrm>
            <a:off x="10353844" y="6198577"/>
            <a:ext cx="2324614" cy="13188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38"/>
              </a:lnSpc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확정 시점: L-1주 이전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33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33" y="387896"/>
            <a:ext cx="10950666" cy="58960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33" y="1287815"/>
            <a:ext cx="10950666" cy="386477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33" y="1287815"/>
            <a:ext cx="10950666" cy="52753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633" y="2292101"/>
            <a:ext cx="10950666" cy="47674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633" y="2768850"/>
            <a:ext cx="10950666" cy="47674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633" y="3245598"/>
            <a:ext cx="10950666" cy="47674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633" y="3722346"/>
            <a:ext cx="10950666" cy="47674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633" y="4199095"/>
            <a:ext cx="10950666" cy="47674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633" y="4675843"/>
            <a:ext cx="10950666" cy="47674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0633" y="5942566"/>
            <a:ext cx="10950666" cy="52753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4760" y="6082208"/>
            <a:ext cx="248253" cy="248253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91998" y="6082208"/>
            <a:ext cx="248253" cy="248253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7034" y="6082208"/>
            <a:ext cx="248253" cy="248253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08975" y="6082208"/>
            <a:ext cx="248253" cy="248253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74955" y="6144271"/>
            <a:ext cx="131884" cy="13334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806824" y="387896"/>
            <a:ext cx="10764476" cy="3103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43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조직간 협업 체계: RACI 매트릭스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806824" y="760276"/>
            <a:ext cx="10764476" cy="21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의사결정 책임(A)과 실행 역할(R) 정의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868887" y="1287815"/>
            <a:ext cx="3770715" cy="5275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및 주요 활동</a:t>
            </a:r>
            <a:endParaRPr lang="en-US" sz="1350" dirty="0"/>
          </a:p>
        </p:txBody>
      </p:sp>
      <p:sp>
        <p:nvSpPr>
          <p:cNvPr id="21" name="Text 3"/>
          <p:cNvSpPr/>
          <p:nvPr/>
        </p:nvSpPr>
        <p:spPr>
          <a:xfrm>
            <a:off x="5000948" y="1287815"/>
            <a:ext cx="1885236" cy="5275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</a:t>
            </a:r>
            <a:endParaRPr lang="en-US" sz="1350" dirty="0"/>
          </a:p>
        </p:txBody>
      </p:sp>
      <p:sp>
        <p:nvSpPr>
          <p:cNvPr id="22" name="Text 4"/>
          <p:cNvSpPr/>
          <p:nvPr/>
        </p:nvSpPr>
        <p:spPr>
          <a:xfrm>
            <a:off x="7190984" y="1287815"/>
            <a:ext cx="1885236" cy="5275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</a:t>
            </a:r>
            <a:endParaRPr lang="en-US" sz="1350" dirty="0"/>
          </a:p>
        </p:txBody>
      </p:sp>
      <p:sp>
        <p:nvSpPr>
          <p:cNvPr id="23" name="Text 5"/>
          <p:cNvSpPr/>
          <p:nvPr/>
        </p:nvSpPr>
        <p:spPr>
          <a:xfrm>
            <a:off x="9381020" y="1287815"/>
            <a:ext cx="1885479" cy="5275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</a:t>
            </a:r>
            <a:endParaRPr lang="en-US" sz="1350" dirty="0"/>
          </a:p>
        </p:txBody>
      </p:sp>
      <p:sp>
        <p:nvSpPr>
          <p:cNvPr id="24" name="Text 6"/>
          <p:cNvSpPr/>
          <p:nvPr/>
        </p:nvSpPr>
        <p:spPr>
          <a:xfrm>
            <a:off x="868887" y="1815353"/>
            <a:ext cx="3770715" cy="4767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진출 지역 확정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5008706" y="1939480"/>
            <a:ext cx="2174520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7198743" y="1939480"/>
            <a:ext cx="2174520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9388779" y="1939480"/>
            <a:ext cx="2174763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868887" y="2292101"/>
            <a:ext cx="3770715" cy="4767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Zone 분할 설계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5008706" y="2416228"/>
            <a:ext cx="2174520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200" dirty="0"/>
          </a:p>
        </p:txBody>
      </p:sp>
      <p:sp>
        <p:nvSpPr>
          <p:cNvPr id="30" name="Text 12"/>
          <p:cNvSpPr/>
          <p:nvPr/>
        </p:nvSpPr>
        <p:spPr>
          <a:xfrm>
            <a:off x="7198743" y="2416228"/>
            <a:ext cx="2174520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9388779" y="2416228"/>
            <a:ext cx="2174763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200" dirty="0"/>
          </a:p>
        </p:txBody>
      </p:sp>
      <p:sp>
        <p:nvSpPr>
          <p:cNvPr id="32" name="Text 14"/>
          <p:cNvSpPr/>
          <p:nvPr/>
        </p:nvSpPr>
        <p:spPr>
          <a:xfrm>
            <a:off x="868887" y="2768850"/>
            <a:ext cx="3770715" cy="4767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판가 설정</a:t>
            </a:r>
            <a:endParaRPr lang="en-US" sz="1200" dirty="0"/>
          </a:p>
        </p:txBody>
      </p:sp>
      <p:sp>
        <p:nvSpPr>
          <p:cNvPr id="33" name="Text 15"/>
          <p:cNvSpPr/>
          <p:nvPr/>
        </p:nvSpPr>
        <p:spPr>
          <a:xfrm>
            <a:off x="5008706" y="2892976"/>
            <a:ext cx="2174520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200" dirty="0"/>
          </a:p>
        </p:txBody>
      </p:sp>
      <p:sp>
        <p:nvSpPr>
          <p:cNvPr id="34" name="Text 16"/>
          <p:cNvSpPr/>
          <p:nvPr/>
        </p:nvSpPr>
        <p:spPr>
          <a:xfrm>
            <a:off x="7198743" y="2892976"/>
            <a:ext cx="2174520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endParaRPr lang="en-US" sz="1200" dirty="0"/>
          </a:p>
        </p:txBody>
      </p:sp>
      <p:sp>
        <p:nvSpPr>
          <p:cNvPr id="35" name="Text 17"/>
          <p:cNvSpPr/>
          <p:nvPr/>
        </p:nvSpPr>
        <p:spPr>
          <a:xfrm>
            <a:off x="9388779" y="2892976"/>
            <a:ext cx="2174763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200" dirty="0"/>
          </a:p>
        </p:txBody>
      </p:sp>
      <p:sp>
        <p:nvSpPr>
          <p:cNvPr id="36" name="Text 18"/>
          <p:cNvSpPr/>
          <p:nvPr/>
        </p:nvSpPr>
        <p:spPr>
          <a:xfrm>
            <a:off x="868887" y="3245598"/>
            <a:ext cx="3770715" cy="4767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원가 설정</a:t>
            </a:r>
            <a:endParaRPr lang="en-US" sz="1200" dirty="0"/>
          </a:p>
        </p:txBody>
      </p:sp>
      <p:sp>
        <p:nvSpPr>
          <p:cNvPr id="37" name="Text 19"/>
          <p:cNvSpPr/>
          <p:nvPr/>
        </p:nvSpPr>
        <p:spPr>
          <a:xfrm>
            <a:off x="5008706" y="3369725"/>
            <a:ext cx="2174520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200" dirty="0"/>
          </a:p>
        </p:txBody>
      </p:sp>
      <p:sp>
        <p:nvSpPr>
          <p:cNvPr id="38" name="Text 20"/>
          <p:cNvSpPr/>
          <p:nvPr/>
        </p:nvSpPr>
        <p:spPr>
          <a:xfrm>
            <a:off x="7198743" y="3369725"/>
            <a:ext cx="2174520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200" dirty="0"/>
          </a:p>
        </p:txBody>
      </p:sp>
      <p:sp>
        <p:nvSpPr>
          <p:cNvPr id="39" name="Text 21"/>
          <p:cNvSpPr/>
          <p:nvPr/>
        </p:nvSpPr>
        <p:spPr>
          <a:xfrm>
            <a:off x="9388779" y="3369725"/>
            <a:ext cx="2174763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endParaRPr lang="en-US" sz="1200" dirty="0"/>
          </a:p>
        </p:txBody>
      </p:sp>
      <p:sp>
        <p:nvSpPr>
          <p:cNvPr id="40" name="Text 22"/>
          <p:cNvSpPr/>
          <p:nvPr/>
        </p:nvSpPr>
        <p:spPr>
          <a:xfrm>
            <a:off x="868887" y="3722346"/>
            <a:ext cx="3770715" cy="4767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 목표물량 (Step 4-1)</a:t>
            </a:r>
            <a:endParaRPr lang="en-US" sz="1200" dirty="0"/>
          </a:p>
        </p:txBody>
      </p:sp>
      <p:sp>
        <p:nvSpPr>
          <p:cNvPr id="41" name="Text 23"/>
          <p:cNvSpPr/>
          <p:nvPr/>
        </p:nvSpPr>
        <p:spPr>
          <a:xfrm>
            <a:off x="5008706" y="3846473"/>
            <a:ext cx="2174520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/ R</a:t>
            </a:r>
            <a:endParaRPr lang="en-US" sz="1200" dirty="0"/>
          </a:p>
        </p:txBody>
      </p:sp>
      <p:sp>
        <p:nvSpPr>
          <p:cNvPr id="42" name="Text 24"/>
          <p:cNvSpPr/>
          <p:nvPr/>
        </p:nvSpPr>
        <p:spPr>
          <a:xfrm>
            <a:off x="7198743" y="3846473"/>
            <a:ext cx="2174520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200" dirty="0"/>
          </a:p>
        </p:txBody>
      </p:sp>
      <p:sp>
        <p:nvSpPr>
          <p:cNvPr id="43" name="Text 25"/>
          <p:cNvSpPr/>
          <p:nvPr/>
        </p:nvSpPr>
        <p:spPr>
          <a:xfrm>
            <a:off x="9388779" y="3846473"/>
            <a:ext cx="2174763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</a:t>
            </a:r>
            <a:endParaRPr lang="en-US" sz="1200" dirty="0"/>
          </a:p>
        </p:txBody>
      </p:sp>
      <p:sp>
        <p:nvSpPr>
          <p:cNvPr id="44" name="Text 26"/>
          <p:cNvSpPr/>
          <p:nvPr/>
        </p:nvSpPr>
        <p:spPr>
          <a:xfrm>
            <a:off x="868887" y="4199095"/>
            <a:ext cx="3770715" cy="4767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공급목표 (Step 4-2)</a:t>
            </a:r>
            <a:endParaRPr lang="en-US" sz="1200" dirty="0"/>
          </a:p>
        </p:txBody>
      </p:sp>
      <p:sp>
        <p:nvSpPr>
          <p:cNvPr id="45" name="Text 27"/>
          <p:cNvSpPr/>
          <p:nvPr/>
        </p:nvSpPr>
        <p:spPr>
          <a:xfrm>
            <a:off x="5008706" y="4323221"/>
            <a:ext cx="2174520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/ R</a:t>
            </a:r>
            <a:endParaRPr lang="en-US" sz="1200" dirty="0"/>
          </a:p>
        </p:txBody>
      </p:sp>
      <p:sp>
        <p:nvSpPr>
          <p:cNvPr id="46" name="Text 28"/>
          <p:cNvSpPr/>
          <p:nvPr/>
        </p:nvSpPr>
        <p:spPr>
          <a:xfrm>
            <a:off x="7198743" y="4323221"/>
            <a:ext cx="2174520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</a:t>
            </a:r>
            <a:endParaRPr lang="en-US" sz="1200" dirty="0"/>
          </a:p>
        </p:txBody>
      </p:sp>
      <p:sp>
        <p:nvSpPr>
          <p:cNvPr id="47" name="Text 29"/>
          <p:cNvSpPr/>
          <p:nvPr/>
        </p:nvSpPr>
        <p:spPr>
          <a:xfrm>
            <a:off x="9388779" y="4323221"/>
            <a:ext cx="2174763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200" dirty="0"/>
          </a:p>
        </p:txBody>
      </p:sp>
      <p:sp>
        <p:nvSpPr>
          <p:cNvPr id="48" name="Text 30"/>
          <p:cNvSpPr/>
          <p:nvPr/>
        </p:nvSpPr>
        <p:spPr>
          <a:xfrm>
            <a:off x="868887" y="4675843"/>
            <a:ext cx="3770715" cy="4767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진출 기획 최종 확정</a:t>
            </a:r>
            <a:endParaRPr lang="en-US" sz="1200" dirty="0"/>
          </a:p>
        </p:txBody>
      </p:sp>
      <p:sp>
        <p:nvSpPr>
          <p:cNvPr id="49" name="Text 31"/>
          <p:cNvSpPr/>
          <p:nvPr/>
        </p:nvSpPr>
        <p:spPr>
          <a:xfrm>
            <a:off x="5008706" y="4799970"/>
            <a:ext cx="2174520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200" dirty="0"/>
          </a:p>
        </p:txBody>
      </p:sp>
      <p:sp>
        <p:nvSpPr>
          <p:cNvPr id="50" name="Text 32"/>
          <p:cNvSpPr/>
          <p:nvPr/>
        </p:nvSpPr>
        <p:spPr>
          <a:xfrm>
            <a:off x="7198743" y="4799970"/>
            <a:ext cx="2174520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</a:t>
            </a:r>
            <a:endParaRPr lang="en-US" sz="1200" dirty="0"/>
          </a:p>
        </p:txBody>
      </p:sp>
      <p:sp>
        <p:nvSpPr>
          <p:cNvPr id="51" name="Text 33"/>
          <p:cNvSpPr/>
          <p:nvPr/>
        </p:nvSpPr>
        <p:spPr>
          <a:xfrm>
            <a:off x="9388779" y="4799970"/>
            <a:ext cx="2174763" cy="22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</a:t>
            </a:r>
            <a:endParaRPr lang="en-US" sz="1200" dirty="0"/>
          </a:p>
        </p:txBody>
      </p:sp>
      <p:sp>
        <p:nvSpPr>
          <p:cNvPr id="52" name="Text 34"/>
          <p:cNvSpPr/>
          <p:nvPr/>
        </p:nvSpPr>
        <p:spPr>
          <a:xfrm>
            <a:off x="818460" y="6082208"/>
            <a:ext cx="248253" cy="2482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200" dirty="0"/>
          </a:p>
        </p:txBody>
      </p:sp>
      <p:sp>
        <p:nvSpPr>
          <p:cNvPr id="53" name="Text 35"/>
          <p:cNvSpPr/>
          <p:nvPr/>
        </p:nvSpPr>
        <p:spPr>
          <a:xfrm>
            <a:off x="1086109" y="6066692"/>
            <a:ext cx="1852418" cy="1241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77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ACCOUNTABLE</a:t>
            </a:r>
            <a:endParaRPr lang="en-US" sz="900" dirty="0"/>
          </a:p>
        </p:txBody>
      </p:sp>
      <p:sp>
        <p:nvSpPr>
          <p:cNvPr id="54" name="Text 36"/>
          <p:cNvSpPr/>
          <p:nvPr/>
        </p:nvSpPr>
        <p:spPr>
          <a:xfrm>
            <a:off x="1086109" y="6190819"/>
            <a:ext cx="2357630" cy="15515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2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책임 및 의사결정</a:t>
            </a:r>
            <a:endParaRPr lang="en-US" sz="1050" dirty="0"/>
          </a:p>
        </p:txBody>
      </p:sp>
      <p:sp>
        <p:nvSpPr>
          <p:cNvPr id="55" name="Text 37"/>
          <p:cNvSpPr/>
          <p:nvPr/>
        </p:nvSpPr>
        <p:spPr>
          <a:xfrm>
            <a:off x="2765698" y="6082208"/>
            <a:ext cx="248253" cy="2482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endParaRPr lang="en-US" sz="1200" dirty="0"/>
          </a:p>
        </p:txBody>
      </p:sp>
      <p:sp>
        <p:nvSpPr>
          <p:cNvPr id="56" name="Text 38"/>
          <p:cNvSpPr/>
          <p:nvPr/>
        </p:nvSpPr>
        <p:spPr>
          <a:xfrm>
            <a:off x="3033346" y="6066692"/>
            <a:ext cx="1852418" cy="1241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77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RESPONSIBLE</a:t>
            </a:r>
            <a:endParaRPr lang="en-US" sz="900" dirty="0"/>
          </a:p>
        </p:txBody>
      </p:sp>
      <p:sp>
        <p:nvSpPr>
          <p:cNvPr id="57" name="Text 39"/>
          <p:cNvSpPr/>
          <p:nvPr/>
        </p:nvSpPr>
        <p:spPr>
          <a:xfrm>
            <a:off x="3033346" y="6190819"/>
            <a:ext cx="982346" cy="15515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2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담당</a:t>
            </a:r>
            <a:endParaRPr lang="en-US" sz="1050" dirty="0"/>
          </a:p>
        </p:txBody>
      </p:sp>
      <p:sp>
        <p:nvSpPr>
          <p:cNvPr id="58" name="Text 40"/>
          <p:cNvSpPr/>
          <p:nvPr/>
        </p:nvSpPr>
        <p:spPr>
          <a:xfrm>
            <a:off x="4270734" y="6082208"/>
            <a:ext cx="248253" cy="2482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200" dirty="0"/>
          </a:p>
        </p:txBody>
      </p:sp>
      <p:sp>
        <p:nvSpPr>
          <p:cNvPr id="59" name="Text 41"/>
          <p:cNvSpPr/>
          <p:nvPr/>
        </p:nvSpPr>
        <p:spPr>
          <a:xfrm>
            <a:off x="4538382" y="6066692"/>
            <a:ext cx="1515615" cy="1241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77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CONSULTED</a:t>
            </a:r>
            <a:endParaRPr lang="en-US" sz="900" dirty="0"/>
          </a:p>
        </p:txBody>
      </p:sp>
      <p:sp>
        <p:nvSpPr>
          <p:cNvPr id="60" name="Text 42"/>
          <p:cNvSpPr/>
          <p:nvPr/>
        </p:nvSpPr>
        <p:spPr>
          <a:xfrm>
            <a:off x="4538382" y="6190819"/>
            <a:ext cx="1375284" cy="15515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2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협의 및 조언</a:t>
            </a:r>
            <a:endParaRPr lang="en-US" sz="1050" dirty="0"/>
          </a:p>
        </p:txBody>
      </p:sp>
      <p:sp>
        <p:nvSpPr>
          <p:cNvPr id="61" name="Text 43"/>
          <p:cNvSpPr/>
          <p:nvPr/>
        </p:nvSpPr>
        <p:spPr>
          <a:xfrm>
            <a:off x="5709828" y="6082208"/>
            <a:ext cx="248253" cy="2482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</a:t>
            </a:r>
            <a:endParaRPr lang="en-US" sz="1200" dirty="0"/>
          </a:p>
        </p:txBody>
      </p:sp>
      <p:sp>
        <p:nvSpPr>
          <p:cNvPr id="62" name="Text 44"/>
          <p:cNvSpPr/>
          <p:nvPr/>
        </p:nvSpPr>
        <p:spPr>
          <a:xfrm>
            <a:off x="5950323" y="6066692"/>
            <a:ext cx="1347213" cy="1241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77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INFORMED</a:t>
            </a:r>
            <a:endParaRPr lang="en-US" sz="900" dirty="0"/>
          </a:p>
        </p:txBody>
      </p:sp>
      <p:sp>
        <p:nvSpPr>
          <p:cNvPr id="63" name="Text 45"/>
          <p:cNvSpPr/>
          <p:nvPr/>
        </p:nvSpPr>
        <p:spPr>
          <a:xfrm>
            <a:off x="5950323" y="6190819"/>
            <a:ext cx="982346" cy="15515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2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통보</a:t>
            </a:r>
            <a:endParaRPr lang="en-US" sz="1050" dirty="0"/>
          </a:p>
        </p:txBody>
      </p:sp>
      <p:sp>
        <p:nvSpPr>
          <p:cNvPr id="64" name="Text 46"/>
          <p:cNvSpPr/>
          <p:nvPr/>
        </p:nvSpPr>
        <p:spPr>
          <a:xfrm>
            <a:off x="9437872" y="6128756"/>
            <a:ext cx="4125852" cy="15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2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킥오프 미팅 시 기획 주도 확정 원칙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4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81" y="366738"/>
            <a:ext cx="11018412" cy="55744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81" y="1217570"/>
            <a:ext cx="5421189" cy="224076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815" y="1434518"/>
            <a:ext cx="352068" cy="35206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497" y="1515315"/>
            <a:ext cx="190704" cy="1904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815" y="1944972"/>
            <a:ext cx="5069121" cy="32272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4004" y="1217570"/>
            <a:ext cx="5421189" cy="224076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0039" y="1434518"/>
            <a:ext cx="352068" cy="35206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1723" y="1515315"/>
            <a:ext cx="168699" cy="1904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0039" y="1944972"/>
            <a:ext cx="5069121" cy="322729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6781" y="3634373"/>
            <a:ext cx="5421189" cy="2240769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815" y="3851322"/>
            <a:ext cx="352068" cy="352068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3497" y="3932118"/>
            <a:ext cx="190704" cy="19047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815" y="4361775"/>
            <a:ext cx="5069121" cy="322729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84004" y="3634373"/>
            <a:ext cx="5421189" cy="2240769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60039" y="3851322"/>
            <a:ext cx="352068" cy="352068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51723" y="3932118"/>
            <a:ext cx="168699" cy="19047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60039" y="4361775"/>
            <a:ext cx="5069121" cy="322729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6781" y="6109854"/>
            <a:ext cx="11018412" cy="381408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6781" y="6233858"/>
            <a:ext cx="132026" cy="133401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762815" y="366738"/>
            <a:ext cx="10842378" cy="29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31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 미팅 및 의사결정 체계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762815" y="718806"/>
            <a:ext cx="10983903" cy="2053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17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주요 미팅을 통한 체계적인 진척 관리 및 의사결정 품질 확보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1232239" y="1437613"/>
            <a:ext cx="831213" cy="1613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24"/>
              </a:lnSpc>
              <a:buNone/>
            </a:pPr>
            <a:r>
              <a:rPr lang="en-US" sz="900" b="1" spc="47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L-4주</a:t>
            </a:r>
            <a:endParaRPr lang="en-US" sz="900" dirty="0"/>
          </a:p>
        </p:txBody>
      </p:sp>
      <p:sp>
        <p:nvSpPr>
          <p:cNvPr id="25" name="Text 3"/>
          <p:cNvSpPr/>
          <p:nvPr/>
        </p:nvSpPr>
        <p:spPr>
          <a:xfrm>
            <a:off x="1232239" y="1622242"/>
            <a:ext cx="2671760" cy="2053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17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진출 기획 킥오프</a:t>
            </a:r>
            <a:endParaRPr lang="en-US" sz="1500" dirty="0"/>
          </a:p>
        </p:txBody>
      </p:sp>
      <p:sp>
        <p:nvSpPr>
          <p:cNvPr id="26" name="Text 4"/>
          <p:cNvSpPr/>
          <p:nvPr/>
        </p:nvSpPr>
        <p:spPr>
          <a:xfrm>
            <a:off x="850832" y="2032989"/>
            <a:ext cx="1039021" cy="14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 조직</a:t>
            </a:r>
            <a:endParaRPr lang="en-US" sz="1050" dirty="0"/>
          </a:p>
        </p:txBody>
      </p:sp>
      <p:sp>
        <p:nvSpPr>
          <p:cNvPr id="27" name="Text 5"/>
          <p:cNvSpPr/>
          <p:nvPr/>
        </p:nvSpPr>
        <p:spPr>
          <a:xfrm>
            <a:off x="4687713" y="2032989"/>
            <a:ext cx="2493651" cy="14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+ 영업 + 운영</a:t>
            </a:r>
            <a:endParaRPr lang="en-US" sz="1050" dirty="0"/>
          </a:p>
        </p:txBody>
      </p:sp>
      <p:sp>
        <p:nvSpPr>
          <p:cNvPr id="28" name="Text 6"/>
          <p:cNvSpPr/>
          <p:nvPr/>
        </p:nvSpPr>
        <p:spPr>
          <a:xfrm>
            <a:off x="762815" y="2385057"/>
            <a:ext cx="5069121" cy="14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진출 사례 회고 및 교훈 공유</a:t>
            </a:r>
            <a:endParaRPr lang="en-US" sz="1050" dirty="0"/>
          </a:p>
        </p:txBody>
      </p:sp>
      <p:sp>
        <p:nvSpPr>
          <p:cNvPr id="29" name="Text 7"/>
          <p:cNvSpPr/>
          <p:nvPr/>
        </p:nvSpPr>
        <p:spPr>
          <a:xfrm>
            <a:off x="762815" y="2590431"/>
            <a:ext cx="5069121" cy="14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진출 대상 지역 최종 확정 (의사결정)</a:t>
            </a:r>
            <a:endParaRPr lang="en-US" sz="1050" dirty="0"/>
          </a:p>
        </p:txBody>
      </p:sp>
      <p:sp>
        <p:nvSpPr>
          <p:cNvPr id="30" name="Text 8"/>
          <p:cNvSpPr/>
          <p:nvPr/>
        </p:nvSpPr>
        <p:spPr>
          <a:xfrm>
            <a:off x="762815" y="2795804"/>
            <a:ext cx="5125838" cy="14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 권역 기획 착수 가이드 하달</a:t>
            </a:r>
            <a:endParaRPr lang="en-US" sz="1050" dirty="0"/>
          </a:p>
        </p:txBody>
      </p:sp>
      <p:sp>
        <p:nvSpPr>
          <p:cNvPr id="31" name="Text 9"/>
          <p:cNvSpPr/>
          <p:nvPr/>
        </p:nvSpPr>
        <p:spPr>
          <a:xfrm>
            <a:off x="6829463" y="1437613"/>
            <a:ext cx="356234" cy="1613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24"/>
              </a:lnSpc>
              <a:buNone/>
            </a:pPr>
            <a:r>
              <a:rPr lang="en-US" sz="900" b="1" spc="47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매주</a:t>
            </a:r>
            <a:endParaRPr lang="en-US" sz="900" dirty="0"/>
          </a:p>
        </p:txBody>
      </p:sp>
      <p:sp>
        <p:nvSpPr>
          <p:cNvPr id="32" name="Text 10"/>
          <p:cNvSpPr/>
          <p:nvPr/>
        </p:nvSpPr>
        <p:spPr>
          <a:xfrm>
            <a:off x="6829463" y="1622242"/>
            <a:ext cx="2374898" cy="2053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17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진행 점검</a:t>
            </a:r>
            <a:endParaRPr lang="en-US" sz="1500" dirty="0"/>
          </a:p>
        </p:txBody>
      </p:sp>
      <p:sp>
        <p:nvSpPr>
          <p:cNvPr id="33" name="Text 11"/>
          <p:cNvSpPr/>
          <p:nvPr/>
        </p:nvSpPr>
        <p:spPr>
          <a:xfrm>
            <a:off x="6448055" y="2032989"/>
            <a:ext cx="1039021" cy="14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 조직</a:t>
            </a:r>
            <a:endParaRPr lang="en-US" sz="1050" dirty="0"/>
          </a:p>
        </p:txBody>
      </p:sp>
      <p:sp>
        <p:nvSpPr>
          <p:cNvPr id="34" name="Text 12"/>
          <p:cNvSpPr/>
          <p:nvPr/>
        </p:nvSpPr>
        <p:spPr>
          <a:xfrm>
            <a:off x="10284936" y="2032989"/>
            <a:ext cx="2493651" cy="14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+ 영업 + 운영</a:t>
            </a:r>
            <a:endParaRPr lang="en-US" sz="1050" dirty="0"/>
          </a:p>
        </p:txBody>
      </p:sp>
      <p:sp>
        <p:nvSpPr>
          <p:cNvPr id="35" name="Text 13"/>
          <p:cNvSpPr/>
          <p:nvPr/>
        </p:nvSpPr>
        <p:spPr>
          <a:xfrm>
            <a:off x="6360039" y="2385057"/>
            <a:ext cx="5069121" cy="14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진행 상황 모니터링</a:t>
            </a:r>
            <a:endParaRPr lang="en-US" sz="1050" dirty="0"/>
          </a:p>
        </p:txBody>
      </p:sp>
      <p:sp>
        <p:nvSpPr>
          <p:cNvPr id="36" name="Text 14"/>
          <p:cNvSpPr/>
          <p:nvPr/>
        </p:nvSpPr>
        <p:spPr>
          <a:xfrm>
            <a:off x="6360039" y="2590431"/>
            <a:ext cx="5069121" cy="14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부서 간 협업 병목 현상 및 이슈 공유</a:t>
            </a:r>
            <a:endParaRPr lang="en-US" sz="1050" dirty="0"/>
          </a:p>
        </p:txBody>
      </p:sp>
      <p:sp>
        <p:nvSpPr>
          <p:cNvPr id="37" name="Text 15"/>
          <p:cNvSpPr/>
          <p:nvPr/>
        </p:nvSpPr>
        <p:spPr>
          <a:xfrm>
            <a:off x="6360039" y="2795804"/>
            <a:ext cx="5069121" cy="14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차주 주요 액션 아이템 리마인드</a:t>
            </a:r>
            <a:endParaRPr lang="en-US" sz="1050" dirty="0"/>
          </a:p>
        </p:txBody>
      </p:sp>
      <p:sp>
        <p:nvSpPr>
          <p:cNvPr id="38" name="Text 16"/>
          <p:cNvSpPr/>
          <p:nvPr/>
        </p:nvSpPr>
        <p:spPr>
          <a:xfrm>
            <a:off x="1232239" y="3854416"/>
            <a:ext cx="1246820" cy="1613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24"/>
              </a:lnSpc>
              <a:buNone/>
            </a:pPr>
            <a:r>
              <a:rPr lang="en-US" sz="900" b="1" spc="47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 전환 시</a:t>
            </a:r>
            <a:endParaRPr lang="en-US" sz="900" dirty="0"/>
          </a:p>
        </p:txBody>
      </p:sp>
      <p:sp>
        <p:nvSpPr>
          <p:cNvPr id="39" name="Text 17"/>
          <p:cNvSpPr/>
          <p:nvPr/>
        </p:nvSpPr>
        <p:spPr>
          <a:xfrm>
            <a:off x="1232239" y="4039046"/>
            <a:ext cx="1781173" cy="2053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17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리뷰</a:t>
            </a:r>
            <a:endParaRPr lang="en-US" sz="1500" dirty="0"/>
          </a:p>
        </p:txBody>
      </p:sp>
      <p:sp>
        <p:nvSpPr>
          <p:cNvPr id="40" name="Text 18"/>
          <p:cNvSpPr/>
          <p:nvPr/>
        </p:nvSpPr>
        <p:spPr>
          <a:xfrm>
            <a:off x="850832" y="4449792"/>
            <a:ext cx="1039021" cy="14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 조직</a:t>
            </a:r>
            <a:endParaRPr lang="en-US" sz="1050" dirty="0"/>
          </a:p>
        </p:txBody>
      </p:sp>
      <p:sp>
        <p:nvSpPr>
          <p:cNvPr id="41" name="Text 19"/>
          <p:cNvSpPr/>
          <p:nvPr/>
        </p:nvSpPr>
        <p:spPr>
          <a:xfrm>
            <a:off x="4687713" y="4449792"/>
            <a:ext cx="2493651" cy="14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+ 영업 + 운영</a:t>
            </a:r>
            <a:endParaRPr lang="en-US" sz="1050" dirty="0"/>
          </a:p>
        </p:txBody>
      </p:sp>
      <p:sp>
        <p:nvSpPr>
          <p:cNvPr id="42" name="Text 20"/>
          <p:cNvSpPr/>
          <p:nvPr/>
        </p:nvSpPr>
        <p:spPr>
          <a:xfrm>
            <a:off x="762815" y="4801860"/>
            <a:ext cx="5610715" cy="14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산출물(Zone 맵, 원/판가 등) 리뷰</a:t>
            </a:r>
            <a:endParaRPr lang="en-US" sz="1050" dirty="0"/>
          </a:p>
        </p:txBody>
      </p:sp>
      <p:sp>
        <p:nvSpPr>
          <p:cNvPr id="43" name="Text 21"/>
          <p:cNvSpPr/>
          <p:nvPr/>
        </p:nvSpPr>
        <p:spPr>
          <a:xfrm>
            <a:off x="762815" y="5007234"/>
            <a:ext cx="5069121" cy="14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완료 기준 충족 여부 검증</a:t>
            </a:r>
            <a:endParaRPr lang="en-US" sz="1050" dirty="0"/>
          </a:p>
        </p:txBody>
      </p:sp>
      <p:sp>
        <p:nvSpPr>
          <p:cNvPr id="44" name="Text 22"/>
          <p:cNvSpPr/>
          <p:nvPr/>
        </p:nvSpPr>
        <p:spPr>
          <a:xfrm>
            <a:off x="762815" y="5212607"/>
            <a:ext cx="6234128" cy="14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단계 착수 승인 (Gate-keeper 역할)</a:t>
            </a:r>
            <a:endParaRPr lang="en-US" sz="1050" dirty="0"/>
          </a:p>
        </p:txBody>
      </p:sp>
      <p:sp>
        <p:nvSpPr>
          <p:cNvPr id="45" name="Text 23"/>
          <p:cNvSpPr/>
          <p:nvPr/>
        </p:nvSpPr>
        <p:spPr>
          <a:xfrm>
            <a:off x="6829463" y="3854416"/>
            <a:ext cx="831213" cy="1613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24"/>
              </a:lnSpc>
              <a:buNone/>
            </a:pPr>
            <a:r>
              <a:rPr lang="en-US" sz="900" b="1" spc="47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L-1주</a:t>
            </a:r>
            <a:endParaRPr lang="en-US" sz="900" dirty="0"/>
          </a:p>
        </p:txBody>
      </p:sp>
      <p:sp>
        <p:nvSpPr>
          <p:cNvPr id="46" name="Text 24"/>
          <p:cNvSpPr/>
          <p:nvPr/>
        </p:nvSpPr>
        <p:spPr>
          <a:xfrm>
            <a:off x="6829463" y="4039046"/>
            <a:ext cx="3265485" cy="2053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17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진출 기획 완료 미팅</a:t>
            </a:r>
            <a:endParaRPr lang="en-US" sz="1500" dirty="0"/>
          </a:p>
        </p:txBody>
      </p:sp>
      <p:sp>
        <p:nvSpPr>
          <p:cNvPr id="47" name="Text 25"/>
          <p:cNvSpPr/>
          <p:nvPr/>
        </p:nvSpPr>
        <p:spPr>
          <a:xfrm>
            <a:off x="6448055" y="4449792"/>
            <a:ext cx="1039021" cy="14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 조직</a:t>
            </a:r>
            <a:endParaRPr lang="en-US" sz="1050" dirty="0"/>
          </a:p>
        </p:txBody>
      </p:sp>
      <p:sp>
        <p:nvSpPr>
          <p:cNvPr id="48" name="Text 26"/>
          <p:cNvSpPr/>
          <p:nvPr/>
        </p:nvSpPr>
        <p:spPr>
          <a:xfrm>
            <a:off x="10284936" y="4449792"/>
            <a:ext cx="2493651" cy="14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+ 영업 + 운영</a:t>
            </a:r>
            <a:endParaRPr lang="en-US" sz="1050" dirty="0"/>
          </a:p>
        </p:txBody>
      </p:sp>
      <p:sp>
        <p:nvSpPr>
          <p:cNvPr id="49" name="Text 27"/>
          <p:cNvSpPr/>
          <p:nvPr/>
        </p:nvSpPr>
        <p:spPr>
          <a:xfrm>
            <a:off x="6360039" y="4801860"/>
            <a:ext cx="5069121" cy="14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산출물 패키지 최종 확인</a:t>
            </a:r>
            <a:endParaRPr lang="en-US" sz="1050" dirty="0"/>
          </a:p>
        </p:txBody>
      </p:sp>
      <p:sp>
        <p:nvSpPr>
          <p:cNvPr id="50" name="Text 28"/>
          <p:cNvSpPr/>
          <p:nvPr/>
        </p:nvSpPr>
        <p:spPr>
          <a:xfrm>
            <a:off x="6360039" y="5007234"/>
            <a:ext cx="5069121" cy="14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인트라 설정값 최종 검수</a:t>
            </a:r>
            <a:endParaRPr lang="en-US" sz="1050" dirty="0"/>
          </a:p>
        </p:txBody>
      </p:sp>
      <p:sp>
        <p:nvSpPr>
          <p:cNvPr id="51" name="Text 29"/>
          <p:cNvSpPr/>
          <p:nvPr/>
        </p:nvSpPr>
        <p:spPr>
          <a:xfrm>
            <a:off x="6360039" y="5212607"/>
            <a:ext cx="5610715" cy="14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pPr algn="l"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런칭 준비 상태 점검 및 최종 Go/No-Go</a:t>
            </a:r>
            <a:endParaRPr lang="en-US" sz="1050" dirty="0"/>
          </a:p>
        </p:txBody>
      </p:sp>
      <p:sp>
        <p:nvSpPr>
          <p:cNvPr id="52" name="Text 30"/>
          <p:cNvSpPr/>
          <p:nvPr/>
        </p:nvSpPr>
        <p:spPr>
          <a:xfrm>
            <a:off x="777484" y="6227211"/>
            <a:ext cx="12676060" cy="14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SOP의 핵심은 기획 주도의 [하달 → 협의 → 확정] 프로세스를 정기 미팅을 통해 실행하는 데 있습니다.</a:t>
            </a:r>
            <a:endParaRPr lang="en-US" sz="1050" dirty="0"/>
          </a:p>
        </p:txBody>
      </p:sp>
      <p:sp>
        <p:nvSpPr>
          <p:cNvPr id="53" name="Text 31"/>
          <p:cNvSpPr/>
          <p:nvPr/>
        </p:nvSpPr>
        <p:spPr>
          <a:xfrm>
            <a:off x="10402293" y="6241880"/>
            <a:ext cx="3265481" cy="11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24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지역 진출 SOP v1.0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31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87" y="480140"/>
            <a:ext cx="10911557" cy="60817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87" y="1408411"/>
            <a:ext cx="10911557" cy="413720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87" y="1408411"/>
            <a:ext cx="2727795" cy="52002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261" y="1608469"/>
            <a:ext cx="110782" cy="13316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7982" y="1408411"/>
            <a:ext cx="1818530" cy="52002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5058" y="1608469"/>
            <a:ext cx="126787" cy="13316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6512" y="1408411"/>
            <a:ext cx="1818531" cy="52002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5043" y="1408411"/>
            <a:ext cx="1818530" cy="52002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92118" y="1608469"/>
            <a:ext cx="126787" cy="13316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23574" y="1408411"/>
            <a:ext cx="2728170" cy="520027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65531" y="1608469"/>
            <a:ext cx="126788" cy="133164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187" y="1928437"/>
            <a:ext cx="2727795" cy="60280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67982" y="1928437"/>
            <a:ext cx="1818530" cy="602801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86512" y="1928437"/>
            <a:ext cx="1818531" cy="602801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05043" y="1928437"/>
            <a:ext cx="1818530" cy="602801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23574" y="1928437"/>
            <a:ext cx="2728170" cy="602801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187" y="2531238"/>
            <a:ext cx="2727795" cy="602801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67982" y="2531238"/>
            <a:ext cx="1818530" cy="602801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86512" y="2531238"/>
            <a:ext cx="1818531" cy="602801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05043" y="2531238"/>
            <a:ext cx="1818530" cy="602801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23574" y="2531238"/>
            <a:ext cx="2728170" cy="602801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187" y="3134039"/>
            <a:ext cx="2727795" cy="602801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367982" y="3134039"/>
            <a:ext cx="1818530" cy="602801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186512" y="3134039"/>
            <a:ext cx="1818531" cy="602801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005043" y="3134039"/>
            <a:ext cx="1818530" cy="602801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823574" y="3134039"/>
            <a:ext cx="2728170" cy="602801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0187" y="3736840"/>
            <a:ext cx="2727795" cy="602801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367982" y="3736840"/>
            <a:ext cx="1818530" cy="602801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186512" y="3736840"/>
            <a:ext cx="1818531" cy="602801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005043" y="3736840"/>
            <a:ext cx="1818530" cy="602801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823574" y="3736840"/>
            <a:ext cx="2728170" cy="602801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40187" y="4339641"/>
            <a:ext cx="2727795" cy="602801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367982" y="4339641"/>
            <a:ext cx="1818530" cy="602801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186512" y="4339641"/>
            <a:ext cx="1818531" cy="602801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005043" y="4339641"/>
            <a:ext cx="1818530" cy="602801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823574" y="4339641"/>
            <a:ext cx="2728170" cy="602801"/>
          </a:xfrm>
          <a:prstGeom prst="rect">
            <a:avLst/>
          </a:prstGeom>
        </p:spPr>
      </p:pic>
      <p:pic>
        <p:nvPicPr>
          <p:cNvPr id="39" name="Image 37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40187" y="4942441"/>
            <a:ext cx="10911557" cy="603176"/>
          </a:xfrm>
          <a:prstGeom prst="rect">
            <a:avLst/>
          </a:prstGeom>
        </p:spPr>
      </p:pic>
      <p:pic>
        <p:nvPicPr>
          <p:cNvPr id="40" name="Image 38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40187" y="5801692"/>
            <a:ext cx="3509148" cy="576168"/>
          </a:xfrm>
          <a:prstGeom prst="rect">
            <a:avLst/>
          </a:prstGeom>
        </p:spPr>
      </p:pic>
      <p:pic>
        <p:nvPicPr>
          <p:cNvPr id="41" name="Image 39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68224" y="5929729"/>
            <a:ext cx="320093" cy="320093"/>
          </a:xfrm>
          <a:prstGeom prst="rect">
            <a:avLst/>
          </a:prstGeom>
        </p:spPr>
      </p:pic>
      <p:pic>
        <p:nvPicPr>
          <p:cNvPr id="42" name="Image 40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60251" y="6013504"/>
            <a:ext cx="136040" cy="152419"/>
          </a:xfrm>
          <a:prstGeom prst="rect">
            <a:avLst/>
          </a:prstGeom>
        </p:spPr>
      </p:pic>
      <p:pic>
        <p:nvPicPr>
          <p:cNvPr id="43" name="Image 41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341391" y="5801692"/>
            <a:ext cx="3509148" cy="576168"/>
          </a:xfrm>
          <a:prstGeom prst="rect">
            <a:avLst/>
          </a:prstGeom>
        </p:spPr>
      </p:pic>
      <p:pic>
        <p:nvPicPr>
          <p:cNvPr id="44" name="Image 42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469429" y="5929729"/>
            <a:ext cx="320093" cy="320093"/>
          </a:xfrm>
          <a:prstGeom prst="rect">
            <a:avLst/>
          </a:prstGeom>
        </p:spPr>
      </p:pic>
      <p:pic>
        <p:nvPicPr>
          <p:cNvPr id="45" name="Image 43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561455" y="6013504"/>
            <a:ext cx="136040" cy="152419"/>
          </a:xfrm>
          <a:prstGeom prst="rect">
            <a:avLst/>
          </a:prstGeom>
        </p:spPr>
      </p:pic>
      <p:pic>
        <p:nvPicPr>
          <p:cNvPr id="46" name="Image 44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042596" y="5801692"/>
            <a:ext cx="3509148" cy="576168"/>
          </a:xfrm>
          <a:prstGeom prst="rect">
            <a:avLst/>
          </a:prstGeom>
        </p:spPr>
      </p:pic>
      <p:pic>
        <p:nvPicPr>
          <p:cNvPr id="47" name="Image 45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170633" y="5929729"/>
            <a:ext cx="320093" cy="320093"/>
          </a:xfrm>
          <a:prstGeom prst="rect">
            <a:avLst/>
          </a:prstGeom>
        </p:spPr>
      </p:pic>
      <p:pic>
        <p:nvPicPr>
          <p:cNvPr id="48" name="Image 46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234651" y="6013504"/>
            <a:ext cx="192056" cy="152419"/>
          </a:xfrm>
          <a:prstGeom prst="rect">
            <a:avLst/>
          </a:prstGeom>
        </p:spPr>
      </p:pic>
      <p:sp>
        <p:nvSpPr>
          <p:cNvPr id="49" name="Text 0"/>
          <p:cNvSpPr/>
          <p:nvPr/>
        </p:nvSpPr>
        <p:spPr>
          <a:xfrm>
            <a:off x="832243" y="480140"/>
            <a:ext cx="10719502" cy="3200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조직간 정보 공유 체계</a:t>
            </a:r>
            <a:endParaRPr lang="en-US" sz="2700" dirty="0"/>
          </a:p>
        </p:txBody>
      </p:sp>
      <p:sp>
        <p:nvSpPr>
          <p:cNvPr id="50" name="Text 1"/>
          <p:cNvSpPr/>
          <p:nvPr/>
        </p:nvSpPr>
        <p:spPr>
          <a:xfrm>
            <a:off x="832243" y="864252"/>
            <a:ext cx="10883920" cy="2240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64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런칭을 위한 데이터 투명성 확보 및 실시간 이슈 공유 가이드라인</a:t>
            </a:r>
            <a:endParaRPr lang="en-US" sz="1500" dirty="0"/>
          </a:p>
        </p:txBody>
      </p:sp>
      <p:sp>
        <p:nvSpPr>
          <p:cNvPr id="51" name="Text 2"/>
          <p:cNvSpPr/>
          <p:nvPr/>
        </p:nvSpPr>
        <p:spPr>
          <a:xfrm>
            <a:off x="1071062" y="1408411"/>
            <a:ext cx="2118195" cy="52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50" kern="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 정보</a:t>
            </a:r>
            <a:endParaRPr lang="en-US" sz="1050" dirty="0"/>
          </a:p>
        </p:txBody>
      </p:sp>
      <p:sp>
        <p:nvSpPr>
          <p:cNvPr id="52" name="Text 3"/>
          <p:cNvSpPr/>
          <p:nvPr/>
        </p:nvSpPr>
        <p:spPr>
          <a:xfrm>
            <a:off x="3367982" y="1408411"/>
            <a:ext cx="1361330" cy="52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spc="50" kern="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</a:t>
            </a:r>
            <a:endParaRPr lang="en-US" sz="1050" dirty="0"/>
          </a:p>
        </p:txBody>
      </p:sp>
      <p:sp>
        <p:nvSpPr>
          <p:cNvPr id="53" name="Text 4"/>
          <p:cNvSpPr/>
          <p:nvPr/>
        </p:nvSpPr>
        <p:spPr>
          <a:xfrm>
            <a:off x="5186512" y="1408411"/>
            <a:ext cx="1361331" cy="52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spc="50" kern="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수신</a:t>
            </a:r>
            <a:endParaRPr lang="en-US" sz="1050" dirty="0"/>
          </a:p>
        </p:txBody>
      </p:sp>
      <p:sp>
        <p:nvSpPr>
          <p:cNvPr id="54" name="Text 5"/>
          <p:cNvSpPr/>
          <p:nvPr/>
        </p:nvSpPr>
        <p:spPr>
          <a:xfrm>
            <a:off x="7005043" y="1408411"/>
            <a:ext cx="1361330" cy="52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spc="50" kern="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주기</a:t>
            </a:r>
            <a:endParaRPr lang="en-US" sz="1050" dirty="0"/>
          </a:p>
        </p:txBody>
      </p:sp>
      <p:sp>
        <p:nvSpPr>
          <p:cNvPr id="55" name="Text 6"/>
          <p:cNvSpPr/>
          <p:nvPr/>
        </p:nvSpPr>
        <p:spPr>
          <a:xfrm>
            <a:off x="8823574" y="1408411"/>
            <a:ext cx="2118570" cy="52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spc="50" kern="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형태</a:t>
            </a:r>
            <a:endParaRPr lang="en-US" sz="1050" dirty="0"/>
          </a:p>
        </p:txBody>
      </p:sp>
      <p:sp>
        <p:nvSpPr>
          <p:cNvPr id="56" name="Text 7"/>
          <p:cNvSpPr/>
          <p:nvPr/>
        </p:nvSpPr>
        <p:spPr>
          <a:xfrm>
            <a:off x="896261" y="1928437"/>
            <a:ext cx="2118195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진입 지역 확정</a:t>
            </a:r>
            <a:endParaRPr lang="en-US" sz="1140" dirty="0"/>
          </a:p>
        </p:txBody>
      </p:sp>
      <p:sp>
        <p:nvSpPr>
          <p:cNvPr id="57" name="Text 8"/>
          <p:cNvSpPr/>
          <p:nvPr/>
        </p:nvSpPr>
        <p:spPr>
          <a:xfrm>
            <a:off x="3367982" y="1928437"/>
            <a:ext cx="1361330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</a:t>
            </a:r>
            <a:endParaRPr lang="en-US" sz="1140" dirty="0"/>
          </a:p>
        </p:txBody>
      </p:sp>
      <p:sp>
        <p:nvSpPr>
          <p:cNvPr id="58" name="Text 9"/>
          <p:cNvSpPr/>
          <p:nvPr/>
        </p:nvSpPr>
        <p:spPr>
          <a:xfrm>
            <a:off x="5186512" y="1928437"/>
            <a:ext cx="1361331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영업, 운영</a:t>
            </a:r>
            <a:endParaRPr lang="en-US" sz="1140" dirty="0"/>
          </a:p>
        </p:txBody>
      </p:sp>
      <p:sp>
        <p:nvSpPr>
          <p:cNvPr id="59" name="Text 10"/>
          <p:cNvSpPr/>
          <p:nvPr/>
        </p:nvSpPr>
        <p:spPr>
          <a:xfrm>
            <a:off x="7005043" y="1928437"/>
            <a:ext cx="1361330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킥오프 시</a:t>
            </a:r>
            <a:endParaRPr lang="en-US" sz="1140" dirty="0"/>
          </a:p>
        </p:txBody>
      </p:sp>
      <p:sp>
        <p:nvSpPr>
          <p:cNvPr id="60" name="Text 11"/>
          <p:cNvSpPr/>
          <p:nvPr/>
        </p:nvSpPr>
        <p:spPr>
          <a:xfrm>
            <a:off x="8823574" y="1928437"/>
            <a:ext cx="2118570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미팅 결과 공유</a:t>
            </a:r>
            <a:endParaRPr lang="en-US" sz="1140" dirty="0"/>
          </a:p>
        </p:txBody>
      </p:sp>
      <p:sp>
        <p:nvSpPr>
          <p:cNvPr id="61" name="Text 12"/>
          <p:cNvSpPr/>
          <p:nvPr/>
        </p:nvSpPr>
        <p:spPr>
          <a:xfrm>
            <a:off x="896261" y="2531238"/>
            <a:ext cx="2118195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Zone 구획 맵</a:t>
            </a:r>
            <a:endParaRPr lang="en-US" sz="1140" dirty="0"/>
          </a:p>
        </p:txBody>
      </p:sp>
      <p:sp>
        <p:nvSpPr>
          <p:cNvPr id="62" name="Text 13"/>
          <p:cNvSpPr/>
          <p:nvPr/>
        </p:nvSpPr>
        <p:spPr>
          <a:xfrm>
            <a:off x="3367982" y="2531238"/>
            <a:ext cx="1361330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</a:t>
            </a:r>
            <a:endParaRPr lang="en-US" sz="1140" dirty="0"/>
          </a:p>
        </p:txBody>
      </p:sp>
      <p:sp>
        <p:nvSpPr>
          <p:cNvPr id="63" name="Text 14"/>
          <p:cNvSpPr/>
          <p:nvPr/>
        </p:nvSpPr>
        <p:spPr>
          <a:xfrm>
            <a:off x="5186512" y="2531238"/>
            <a:ext cx="1361331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기획, 운영</a:t>
            </a:r>
            <a:endParaRPr lang="en-US" sz="1140" dirty="0"/>
          </a:p>
        </p:txBody>
      </p:sp>
      <p:sp>
        <p:nvSpPr>
          <p:cNvPr id="64" name="Text 15"/>
          <p:cNvSpPr/>
          <p:nvPr/>
        </p:nvSpPr>
        <p:spPr>
          <a:xfrm>
            <a:off x="6782688" y="2531238"/>
            <a:ext cx="1806040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 완료 시</a:t>
            </a:r>
            <a:endParaRPr lang="en-US" sz="1140" dirty="0"/>
          </a:p>
        </p:txBody>
      </p:sp>
      <p:sp>
        <p:nvSpPr>
          <p:cNvPr id="65" name="Text 16"/>
          <p:cNvSpPr/>
          <p:nvPr/>
        </p:nvSpPr>
        <p:spPr>
          <a:xfrm>
            <a:off x="8823574" y="2531238"/>
            <a:ext cx="2118570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지도 + 표</a:t>
            </a:r>
            <a:endParaRPr lang="en-US" sz="1140" dirty="0"/>
          </a:p>
        </p:txBody>
      </p:sp>
      <p:sp>
        <p:nvSpPr>
          <p:cNvPr id="66" name="Text 17"/>
          <p:cNvSpPr/>
          <p:nvPr/>
        </p:nvSpPr>
        <p:spPr>
          <a:xfrm>
            <a:off x="896261" y="3134039"/>
            <a:ext cx="2118195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원/판가표</a:t>
            </a:r>
            <a:endParaRPr lang="en-US" sz="1140" dirty="0"/>
          </a:p>
        </p:txBody>
      </p:sp>
      <p:sp>
        <p:nvSpPr>
          <p:cNvPr id="67" name="Text 18"/>
          <p:cNvSpPr/>
          <p:nvPr/>
        </p:nvSpPr>
        <p:spPr>
          <a:xfrm>
            <a:off x="3367982" y="3134039"/>
            <a:ext cx="1361330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영업+운영</a:t>
            </a:r>
            <a:endParaRPr lang="en-US" sz="1140" dirty="0"/>
          </a:p>
        </p:txBody>
      </p:sp>
      <p:sp>
        <p:nvSpPr>
          <p:cNvPr id="68" name="Text 19"/>
          <p:cNvSpPr/>
          <p:nvPr/>
        </p:nvSpPr>
        <p:spPr>
          <a:xfrm>
            <a:off x="5186512" y="3134039"/>
            <a:ext cx="1361331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</a:t>
            </a:r>
            <a:endParaRPr lang="en-US" sz="1140" dirty="0"/>
          </a:p>
        </p:txBody>
      </p:sp>
      <p:sp>
        <p:nvSpPr>
          <p:cNvPr id="69" name="Text 20"/>
          <p:cNvSpPr/>
          <p:nvPr/>
        </p:nvSpPr>
        <p:spPr>
          <a:xfrm>
            <a:off x="6782688" y="3134039"/>
            <a:ext cx="1806040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 완료 시</a:t>
            </a:r>
            <a:endParaRPr lang="en-US" sz="1140" dirty="0"/>
          </a:p>
        </p:txBody>
      </p:sp>
      <p:sp>
        <p:nvSpPr>
          <p:cNvPr id="70" name="Text 21"/>
          <p:cNvSpPr/>
          <p:nvPr/>
        </p:nvSpPr>
        <p:spPr>
          <a:xfrm>
            <a:off x="8823574" y="3134039"/>
            <a:ext cx="2118570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스프레드시트</a:t>
            </a:r>
            <a:endParaRPr lang="en-US" sz="1140" dirty="0"/>
          </a:p>
        </p:txBody>
      </p:sp>
      <p:sp>
        <p:nvSpPr>
          <p:cNvPr id="71" name="Text 22"/>
          <p:cNvSpPr/>
          <p:nvPr/>
        </p:nvSpPr>
        <p:spPr>
          <a:xfrm>
            <a:off x="896261" y="3736840"/>
            <a:ext cx="2118195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목표물량/세트 수 초안</a:t>
            </a:r>
            <a:endParaRPr lang="en-US" sz="1140" dirty="0"/>
          </a:p>
        </p:txBody>
      </p:sp>
      <p:sp>
        <p:nvSpPr>
          <p:cNvPr id="72" name="Text 23"/>
          <p:cNvSpPr/>
          <p:nvPr/>
        </p:nvSpPr>
        <p:spPr>
          <a:xfrm>
            <a:off x="3367982" y="3736840"/>
            <a:ext cx="1361330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</a:t>
            </a:r>
            <a:endParaRPr lang="en-US" sz="1140" dirty="0"/>
          </a:p>
        </p:txBody>
      </p:sp>
      <p:sp>
        <p:nvSpPr>
          <p:cNvPr id="73" name="Text 24"/>
          <p:cNvSpPr/>
          <p:nvPr/>
        </p:nvSpPr>
        <p:spPr>
          <a:xfrm>
            <a:off x="5186512" y="3736840"/>
            <a:ext cx="1361331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영업, 운영</a:t>
            </a:r>
            <a:endParaRPr lang="en-US" sz="1140" dirty="0"/>
          </a:p>
        </p:txBody>
      </p:sp>
      <p:sp>
        <p:nvSpPr>
          <p:cNvPr id="74" name="Text 25"/>
          <p:cNvSpPr/>
          <p:nvPr/>
        </p:nvSpPr>
        <p:spPr>
          <a:xfrm>
            <a:off x="6782688" y="3736840"/>
            <a:ext cx="1806040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 착수 시</a:t>
            </a:r>
            <a:endParaRPr lang="en-US" sz="1140" dirty="0"/>
          </a:p>
        </p:txBody>
      </p:sp>
      <p:sp>
        <p:nvSpPr>
          <p:cNvPr id="75" name="Text 26"/>
          <p:cNvSpPr/>
          <p:nvPr/>
        </p:nvSpPr>
        <p:spPr>
          <a:xfrm>
            <a:off x="8823574" y="3736840"/>
            <a:ext cx="2118570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스프레드시트</a:t>
            </a:r>
            <a:endParaRPr lang="en-US" sz="1140" dirty="0"/>
          </a:p>
        </p:txBody>
      </p:sp>
      <p:sp>
        <p:nvSpPr>
          <p:cNvPr id="76" name="Text 27"/>
          <p:cNvSpPr/>
          <p:nvPr/>
        </p:nvSpPr>
        <p:spPr>
          <a:xfrm>
            <a:off x="896261" y="4339641"/>
            <a:ext cx="2118195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확정 목표물량/공급계획</a:t>
            </a:r>
            <a:endParaRPr lang="en-US" sz="1140" dirty="0"/>
          </a:p>
        </p:txBody>
      </p:sp>
      <p:sp>
        <p:nvSpPr>
          <p:cNvPr id="77" name="Text 28"/>
          <p:cNvSpPr/>
          <p:nvPr/>
        </p:nvSpPr>
        <p:spPr>
          <a:xfrm>
            <a:off x="3367982" y="4339641"/>
            <a:ext cx="1361330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</a:t>
            </a:r>
            <a:endParaRPr lang="en-US" sz="1140" dirty="0"/>
          </a:p>
        </p:txBody>
      </p:sp>
      <p:sp>
        <p:nvSpPr>
          <p:cNvPr id="78" name="Text 29"/>
          <p:cNvSpPr/>
          <p:nvPr/>
        </p:nvSpPr>
        <p:spPr>
          <a:xfrm>
            <a:off x="5186512" y="4339641"/>
            <a:ext cx="1361331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영업, 운영</a:t>
            </a:r>
            <a:endParaRPr lang="en-US" sz="1140" dirty="0"/>
          </a:p>
        </p:txBody>
      </p:sp>
      <p:sp>
        <p:nvSpPr>
          <p:cNvPr id="79" name="Text 30"/>
          <p:cNvSpPr/>
          <p:nvPr/>
        </p:nvSpPr>
        <p:spPr>
          <a:xfrm>
            <a:off x="6782688" y="4339641"/>
            <a:ext cx="1806040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 완료 시</a:t>
            </a:r>
            <a:endParaRPr lang="en-US" sz="1140" dirty="0"/>
          </a:p>
        </p:txBody>
      </p:sp>
      <p:sp>
        <p:nvSpPr>
          <p:cNvPr id="80" name="Text 31"/>
          <p:cNvSpPr/>
          <p:nvPr/>
        </p:nvSpPr>
        <p:spPr>
          <a:xfrm>
            <a:off x="8823574" y="4339641"/>
            <a:ext cx="2118570" cy="60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스프레드시트</a:t>
            </a:r>
            <a:endParaRPr lang="en-US" sz="1140" dirty="0"/>
          </a:p>
        </p:txBody>
      </p:sp>
      <p:sp>
        <p:nvSpPr>
          <p:cNvPr id="81" name="Text 32"/>
          <p:cNvSpPr/>
          <p:nvPr/>
        </p:nvSpPr>
        <p:spPr>
          <a:xfrm>
            <a:off x="896261" y="4942441"/>
            <a:ext cx="2118195" cy="6031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이슈</a:t>
            </a:r>
            <a:endParaRPr lang="en-US" sz="1140" dirty="0"/>
          </a:p>
        </p:txBody>
      </p:sp>
      <p:sp>
        <p:nvSpPr>
          <p:cNvPr id="82" name="Text 33"/>
          <p:cNvSpPr/>
          <p:nvPr/>
        </p:nvSpPr>
        <p:spPr>
          <a:xfrm>
            <a:off x="3367982" y="4942441"/>
            <a:ext cx="1361330" cy="6031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 조직</a:t>
            </a:r>
            <a:endParaRPr lang="en-US" sz="1140" dirty="0"/>
          </a:p>
        </p:txBody>
      </p:sp>
      <p:sp>
        <p:nvSpPr>
          <p:cNvPr id="83" name="Text 34"/>
          <p:cNvSpPr/>
          <p:nvPr/>
        </p:nvSpPr>
        <p:spPr>
          <a:xfrm>
            <a:off x="5186512" y="4942441"/>
            <a:ext cx="1361331" cy="6031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조직</a:t>
            </a:r>
            <a:endParaRPr lang="en-US" sz="1140" dirty="0"/>
          </a:p>
        </p:txBody>
      </p:sp>
      <p:sp>
        <p:nvSpPr>
          <p:cNvPr id="84" name="Text 35"/>
          <p:cNvSpPr/>
          <p:nvPr/>
        </p:nvSpPr>
        <p:spPr>
          <a:xfrm>
            <a:off x="7005043" y="4942441"/>
            <a:ext cx="1361330" cy="6031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</a:t>
            </a:r>
            <a:endParaRPr lang="en-US" sz="1140" dirty="0"/>
          </a:p>
        </p:txBody>
      </p:sp>
      <p:sp>
        <p:nvSpPr>
          <p:cNvPr id="85" name="Text 36"/>
          <p:cNvSpPr/>
          <p:nvPr/>
        </p:nvSpPr>
        <p:spPr>
          <a:xfrm>
            <a:off x="8823574" y="4942441"/>
            <a:ext cx="2118570" cy="6031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메신저/이메일</a:t>
            </a:r>
            <a:endParaRPr lang="en-US" sz="1140" dirty="0"/>
          </a:p>
        </p:txBody>
      </p:sp>
      <p:sp>
        <p:nvSpPr>
          <p:cNvPr id="86" name="Text 37"/>
          <p:cNvSpPr/>
          <p:nvPr/>
        </p:nvSpPr>
        <p:spPr>
          <a:xfrm>
            <a:off x="1216355" y="5945734"/>
            <a:ext cx="1680490" cy="1280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08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ACCURACY</a:t>
            </a:r>
            <a:endParaRPr lang="en-US" sz="900" dirty="0"/>
          </a:p>
        </p:txBody>
      </p:sp>
      <p:sp>
        <p:nvSpPr>
          <p:cNvPr id="87" name="Text 38"/>
          <p:cNvSpPr/>
          <p:nvPr/>
        </p:nvSpPr>
        <p:spPr>
          <a:xfrm>
            <a:off x="1216355" y="6073772"/>
            <a:ext cx="3047494" cy="1600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버전의 스프레드시트 관리</a:t>
            </a:r>
            <a:endParaRPr lang="en-US" sz="1050" dirty="0"/>
          </a:p>
        </p:txBody>
      </p:sp>
      <p:sp>
        <p:nvSpPr>
          <p:cNvPr id="88" name="Text 39"/>
          <p:cNvSpPr/>
          <p:nvPr/>
        </p:nvSpPr>
        <p:spPr>
          <a:xfrm>
            <a:off x="4917559" y="5945734"/>
            <a:ext cx="1920560" cy="1280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08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SPEED</a:t>
            </a:r>
            <a:endParaRPr lang="en-US" sz="900" dirty="0"/>
          </a:p>
        </p:txBody>
      </p:sp>
      <p:sp>
        <p:nvSpPr>
          <p:cNvPr id="89" name="Text 40"/>
          <p:cNvSpPr/>
          <p:nvPr/>
        </p:nvSpPr>
        <p:spPr>
          <a:xfrm>
            <a:off x="4917559" y="6073772"/>
            <a:ext cx="3809368" cy="1600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병목 현상 발생 시 즉시 메신저 공유</a:t>
            </a:r>
            <a:endParaRPr lang="en-US" sz="1050" dirty="0"/>
          </a:p>
        </p:txBody>
      </p:sp>
      <p:sp>
        <p:nvSpPr>
          <p:cNvPr id="90" name="Text 41"/>
          <p:cNvSpPr/>
          <p:nvPr/>
        </p:nvSpPr>
        <p:spPr>
          <a:xfrm>
            <a:off x="8618763" y="5945734"/>
            <a:ext cx="1840536" cy="1280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08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ALIGNMENT</a:t>
            </a:r>
            <a:endParaRPr lang="en-US" sz="900" dirty="0"/>
          </a:p>
        </p:txBody>
      </p:sp>
      <p:sp>
        <p:nvSpPr>
          <p:cNvPr id="91" name="Text 42"/>
          <p:cNvSpPr/>
          <p:nvPr/>
        </p:nvSpPr>
        <p:spPr>
          <a:xfrm>
            <a:off x="8618763" y="6073772"/>
            <a:ext cx="3428431" cy="1600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산출물은 인트라 시스템 연동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19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21" y="394138"/>
            <a:ext cx="10930677" cy="56755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21" y="1213945"/>
            <a:ext cx="10930677" cy="126124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6566" y="1749972"/>
            <a:ext cx="126124" cy="12612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9572" y="1813035"/>
            <a:ext cx="504497" cy="1576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0828" y="1749972"/>
            <a:ext cx="126124" cy="12612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3834" y="1813035"/>
            <a:ext cx="504497" cy="1576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5090" y="1749972"/>
            <a:ext cx="126124" cy="12612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08096" y="1813035"/>
            <a:ext cx="504497" cy="1576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79352" y="1749972"/>
            <a:ext cx="126124" cy="12612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621" y="2790497"/>
            <a:ext cx="5370745" cy="148971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8276" y="2986211"/>
            <a:ext cx="149772" cy="152236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0552" y="2790497"/>
            <a:ext cx="5370745" cy="1489718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8207" y="2986211"/>
            <a:ext cx="149773" cy="152236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0621" y="4532463"/>
            <a:ext cx="10930677" cy="1260872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9807" y="4721649"/>
            <a:ext cx="362607" cy="449194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4400" y="4816243"/>
            <a:ext cx="173421" cy="252248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819807" y="394138"/>
            <a:ext cx="10741491" cy="31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83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타임라인 및 리스크 관리 요약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819807" y="740979"/>
            <a:ext cx="10741491" cy="2207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38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신규 지역 런칭을 위한 마일스톤 및 리스크 대응 체계</a:t>
            </a:r>
            <a:endParaRPr lang="en-US" sz="1350" dirty="0"/>
          </a:p>
        </p:txBody>
      </p:sp>
      <p:sp>
        <p:nvSpPr>
          <p:cNvPr id="21" name="Text 2"/>
          <p:cNvSpPr/>
          <p:nvPr/>
        </p:nvSpPr>
        <p:spPr>
          <a:xfrm>
            <a:off x="819807" y="1403131"/>
            <a:ext cx="10552305" cy="15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1"/>
              </a:lnSpc>
              <a:buNone/>
            </a:pPr>
            <a:r>
              <a:rPr lang="en-US" sz="1050" b="1" spc="51" kern="0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MILESTONES (L-4W TO L-1W)</a:t>
            </a:r>
            <a:endParaRPr lang="en-US" sz="1050" dirty="0"/>
          </a:p>
        </p:txBody>
      </p:sp>
      <p:sp>
        <p:nvSpPr>
          <p:cNvPr id="22" name="Text 3"/>
          <p:cNvSpPr/>
          <p:nvPr/>
        </p:nvSpPr>
        <p:spPr>
          <a:xfrm>
            <a:off x="1488487" y="1970690"/>
            <a:ext cx="2835916" cy="15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1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L-4주 (Kickoff)</a:t>
            </a:r>
            <a:endParaRPr lang="en-US" sz="1050" dirty="0"/>
          </a:p>
        </p:txBody>
      </p:sp>
      <p:sp>
        <p:nvSpPr>
          <p:cNvPr id="23" name="Text 4"/>
          <p:cNvSpPr/>
          <p:nvPr/>
        </p:nvSpPr>
        <p:spPr>
          <a:xfrm>
            <a:off x="1286688" y="2159876"/>
            <a:ext cx="1325880" cy="1261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93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진출 지역 확정</a:t>
            </a:r>
            <a:endParaRPr lang="en-US" sz="900" dirty="0"/>
          </a:p>
        </p:txBody>
      </p:sp>
      <p:sp>
        <p:nvSpPr>
          <p:cNvPr id="24" name="Text 5"/>
          <p:cNvSpPr/>
          <p:nvPr/>
        </p:nvSpPr>
        <p:spPr>
          <a:xfrm>
            <a:off x="4236983" y="1970690"/>
            <a:ext cx="2642558" cy="15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1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L-3주 (Review)</a:t>
            </a:r>
            <a:endParaRPr lang="en-US" sz="1050" dirty="0"/>
          </a:p>
        </p:txBody>
      </p:sp>
      <p:sp>
        <p:nvSpPr>
          <p:cNvPr id="25" name="Text 6"/>
          <p:cNvSpPr/>
          <p:nvPr/>
        </p:nvSpPr>
        <p:spPr>
          <a:xfrm>
            <a:off x="3470877" y="2159876"/>
            <a:ext cx="2486025" cy="1261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93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Zone 확정 / 정책 생성</a:t>
            </a:r>
            <a:endParaRPr lang="en-US" sz="900" dirty="0"/>
          </a:p>
        </p:txBody>
      </p:sp>
      <p:sp>
        <p:nvSpPr>
          <p:cNvPr id="26" name="Text 7"/>
          <p:cNvSpPr/>
          <p:nvPr/>
        </p:nvSpPr>
        <p:spPr>
          <a:xfrm>
            <a:off x="6938183" y="1970690"/>
            <a:ext cx="3158179" cy="15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1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L-2.5주 (Review)</a:t>
            </a:r>
            <a:endParaRPr lang="en-US" sz="1050" dirty="0"/>
          </a:p>
        </p:txBody>
      </p:sp>
      <p:sp>
        <p:nvSpPr>
          <p:cNvPr id="27" name="Text 8"/>
          <p:cNvSpPr/>
          <p:nvPr/>
        </p:nvSpPr>
        <p:spPr>
          <a:xfrm>
            <a:off x="6152271" y="2159876"/>
            <a:ext cx="2651760" cy="1261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93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원·판가 확정 / 인트라 설정</a:t>
            </a:r>
            <a:endParaRPr lang="en-US" sz="900" dirty="0"/>
          </a:p>
        </p:txBody>
      </p:sp>
      <p:sp>
        <p:nvSpPr>
          <p:cNvPr id="28" name="Text 9"/>
          <p:cNvSpPr/>
          <p:nvPr/>
        </p:nvSpPr>
        <p:spPr>
          <a:xfrm>
            <a:off x="9848276" y="1970690"/>
            <a:ext cx="2449200" cy="15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1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L-1주 (Final)</a:t>
            </a:r>
            <a:endParaRPr lang="en-US" sz="1050" dirty="0"/>
          </a:p>
        </p:txBody>
      </p:sp>
      <p:sp>
        <p:nvSpPr>
          <p:cNvPr id="29" name="Text 10"/>
          <p:cNvSpPr/>
          <p:nvPr/>
        </p:nvSpPr>
        <p:spPr>
          <a:xfrm>
            <a:off x="8916533" y="2159876"/>
            <a:ext cx="2651760" cy="1261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93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확정 / 런칭 준비 완료</a:t>
            </a:r>
            <a:endParaRPr lang="en-US" sz="900" dirty="0"/>
          </a:p>
        </p:txBody>
      </p:sp>
      <p:sp>
        <p:nvSpPr>
          <p:cNvPr id="30" name="Text 11"/>
          <p:cNvSpPr/>
          <p:nvPr/>
        </p:nvSpPr>
        <p:spPr>
          <a:xfrm>
            <a:off x="1001110" y="2948152"/>
            <a:ext cx="1325878" cy="2284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리스크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788276" y="3302753"/>
            <a:ext cx="5055435" cy="15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Zone 설계 미스 및 배송 효율 저하</a:t>
            </a:r>
            <a:endParaRPr lang="en-US" sz="1050" dirty="0"/>
          </a:p>
        </p:txBody>
      </p:sp>
      <p:sp>
        <p:nvSpPr>
          <p:cNvPr id="32" name="Text 13"/>
          <p:cNvSpPr/>
          <p:nvPr/>
        </p:nvSpPr>
        <p:spPr>
          <a:xfrm>
            <a:off x="788276" y="3523470"/>
            <a:ext cx="5055435" cy="15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경쟁사 대비 판가 경쟁력 저하</a:t>
            </a:r>
            <a:endParaRPr lang="en-US" sz="1050" dirty="0"/>
          </a:p>
        </p:txBody>
      </p:sp>
      <p:sp>
        <p:nvSpPr>
          <p:cNvPr id="33" name="Text 14"/>
          <p:cNvSpPr/>
          <p:nvPr/>
        </p:nvSpPr>
        <p:spPr>
          <a:xfrm>
            <a:off x="788276" y="3744187"/>
            <a:ext cx="5055435" cy="15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원가 과소 설정에 따른 수익성 악화</a:t>
            </a:r>
            <a:endParaRPr lang="en-US" sz="1050" dirty="0"/>
          </a:p>
        </p:txBody>
      </p:sp>
      <p:sp>
        <p:nvSpPr>
          <p:cNvPr id="34" name="Text 15"/>
          <p:cNvSpPr/>
          <p:nvPr/>
        </p:nvSpPr>
        <p:spPr>
          <a:xfrm>
            <a:off x="788276" y="3964904"/>
            <a:ext cx="5220663" cy="15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수요 예측 대비 공급(벤더/프렌즈) 수급 실패</a:t>
            </a:r>
            <a:endParaRPr lang="en-US" sz="1050" dirty="0"/>
          </a:p>
        </p:txBody>
      </p:sp>
      <p:sp>
        <p:nvSpPr>
          <p:cNvPr id="35" name="Text 16"/>
          <p:cNvSpPr/>
          <p:nvPr/>
        </p:nvSpPr>
        <p:spPr>
          <a:xfrm>
            <a:off x="6561042" y="2948152"/>
            <a:ext cx="1767837" cy="2284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대응 방안</a:t>
            </a:r>
            <a:endParaRPr lang="en-US" sz="1200" dirty="0"/>
          </a:p>
        </p:txBody>
      </p:sp>
      <p:sp>
        <p:nvSpPr>
          <p:cNvPr id="36" name="Text 17"/>
          <p:cNvSpPr/>
          <p:nvPr/>
        </p:nvSpPr>
        <p:spPr>
          <a:xfrm>
            <a:off x="6348207" y="3302753"/>
            <a:ext cx="5055435" cy="15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보수적 가정 기반의 수익성 시뮬레이션</a:t>
            </a:r>
            <a:endParaRPr lang="en-US" sz="1050" dirty="0"/>
          </a:p>
        </p:txBody>
      </p:sp>
      <p:sp>
        <p:nvSpPr>
          <p:cNvPr id="37" name="Text 18"/>
          <p:cNvSpPr/>
          <p:nvPr/>
        </p:nvSpPr>
        <p:spPr>
          <a:xfrm>
            <a:off x="6348207" y="3523470"/>
            <a:ext cx="5055435" cy="15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주간 S&amp;OP 미팅을 통한 리스크 조기 감지</a:t>
            </a:r>
            <a:endParaRPr lang="en-US" sz="1050" dirty="0"/>
          </a:p>
        </p:txBody>
      </p:sp>
      <p:sp>
        <p:nvSpPr>
          <p:cNvPr id="38" name="Text 19"/>
          <p:cNvSpPr/>
          <p:nvPr/>
        </p:nvSpPr>
        <p:spPr>
          <a:xfrm>
            <a:off x="6348207" y="3744187"/>
            <a:ext cx="5055435" cy="15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대체 벤더 확보 및 인접 권역 버퍼 활용</a:t>
            </a:r>
            <a:endParaRPr lang="en-US" sz="1050" dirty="0"/>
          </a:p>
        </p:txBody>
      </p:sp>
      <p:sp>
        <p:nvSpPr>
          <p:cNvPr id="39" name="Text 20"/>
          <p:cNvSpPr/>
          <p:nvPr/>
        </p:nvSpPr>
        <p:spPr>
          <a:xfrm>
            <a:off x="6348207" y="3964904"/>
            <a:ext cx="5055435" cy="15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정식 런칭 전 시스템/운영 테스트 필수 수행</a:t>
            </a:r>
            <a:endParaRPr lang="en-US" sz="1050" dirty="0"/>
          </a:p>
        </p:txBody>
      </p:sp>
      <p:sp>
        <p:nvSpPr>
          <p:cNvPr id="40" name="Text 21"/>
          <p:cNvSpPr/>
          <p:nvPr/>
        </p:nvSpPr>
        <p:spPr>
          <a:xfrm>
            <a:off x="1371600" y="4721649"/>
            <a:ext cx="10000512" cy="2284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Success Points: 성공적인 런칭을 위한 핵심 요점</a:t>
            </a:r>
            <a:endParaRPr lang="en-US" sz="1200" dirty="0"/>
          </a:p>
        </p:txBody>
      </p:sp>
      <p:sp>
        <p:nvSpPr>
          <p:cNvPr id="41" name="Text 22"/>
          <p:cNvSpPr/>
          <p:nvPr/>
        </p:nvSpPr>
        <p:spPr>
          <a:xfrm>
            <a:off x="1371600" y="5013188"/>
            <a:ext cx="3165297" cy="1261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93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Structure</a:t>
            </a:r>
            <a:endParaRPr lang="en-US" sz="900" dirty="0"/>
          </a:p>
        </p:txBody>
      </p:sp>
      <p:sp>
        <p:nvSpPr>
          <p:cNvPr id="42" name="Text 23"/>
          <p:cNvSpPr/>
          <p:nvPr/>
        </p:nvSpPr>
        <p:spPr>
          <a:xfrm>
            <a:off x="1371600" y="5170844"/>
            <a:ext cx="5736284" cy="21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주도 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하달-협의-확정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구조로 4주 내 준비 완료</a:t>
            </a:r>
            <a:endParaRPr lang="en-US" sz="1050" dirty="0"/>
          </a:p>
        </p:txBody>
      </p:sp>
      <p:sp>
        <p:nvSpPr>
          <p:cNvPr id="43" name="Text 24"/>
          <p:cNvSpPr/>
          <p:nvPr/>
        </p:nvSpPr>
        <p:spPr>
          <a:xfrm>
            <a:off x="4789145" y="5013188"/>
            <a:ext cx="3165297" cy="1261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93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Alignment</a:t>
            </a:r>
            <a:endParaRPr lang="en-US" sz="900" dirty="0"/>
          </a:p>
        </p:txBody>
      </p:sp>
      <p:sp>
        <p:nvSpPr>
          <p:cNvPr id="44" name="Text 25"/>
          <p:cNvSpPr/>
          <p:nvPr/>
        </p:nvSpPr>
        <p:spPr>
          <a:xfrm>
            <a:off x="4789145" y="5170844"/>
            <a:ext cx="3165297" cy="4333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4-1(수요)과 4-2(공급)를 병렬 운영하여 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정합성 확보</a:t>
            </a:r>
            <a:endParaRPr lang="en-US" sz="1050" dirty="0"/>
          </a:p>
        </p:txBody>
      </p:sp>
      <p:sp>
        <p:nvSpPr>
          <p:cNvPr id="45" name="Text 26"/>
          <p:cNvSpPr/>
          <p:nvPr/>
        </p:nvSpPr>
        <p:spPr>
          <a:xfrm>
            <a:off x="8206691" y="5013188"/>
            <a:ext cx="3165421" cy="1261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93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Execution</a:t>
            </a:r>
            <a:endParaRPr lang="en-US" sz="900" dirty="0"/>
          </a:p>
        </p:txBody>
      </p:sp>
      <p:sp>
        <p:nvSpPr>
          <p:cNvPr id="46" name="Text 27"/>
          <p:cNvSpPr/>
          <p:nvPr/>
        </p:nvSpPr>
        <p:spPr>
          <a:xfrm>
            <a:off x="8206691" y="5170844"/>
            <a:ext cx="6187452" cy="21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RACI 매트릭스 기반의 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R&amp;R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실행 속도 극대화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2026-03-25T14:34:23Z</dcterms:created>
  <dcterms:modified xsi:type="dcterms:W3CDTF">2026-03-25T14:34:23Z</dcterms:modified>
</cp:coreProperties>
</file>