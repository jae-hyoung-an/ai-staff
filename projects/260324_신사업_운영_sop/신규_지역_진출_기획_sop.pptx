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1450"/>
            <a:ext cx="76200" cy="66865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06000" y="819150"/>
            <a:ext cx="1714500" cy="952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82250" y="1066800"/>
            <a:ext cx="1238250" cy="952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58500" y="1314450"/>
            <a:ext cx="762000" cy="952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00250"/>
            <a:ext cx="103632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B1F3B"/>
                </a:solidFill>
                <a:latin typeface="Noto Sans KR"/>
              </a:defRPr>
            </a:pPr>
            <a:r>
              <a:t>신규 지역 진출 기획 SOP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62250"/>
            <a:ext cx="103632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44861"/>
                </a:solidFill>
                <a:latin typeface="Noto Sans KR"/>
              </a:defRPr>
            </a:pPr>
            <a:r>
              <a:t>권역/세트분배 기능 기반으로 지역 확정부터 영업·공급 목표 수립까지의 기획 프로세스를 표준화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733800"/>
            <a:ext cx="6096000" cy="190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81450"/>
            <a:ext cx="103632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B1F3B"/>
                </a:solidFill>
                <a:latin typeface="Noto Sans KR"/>
              </a:defRPr>
            </a:pPr>
            <a:r>
              <a:t>작성일</a:t>
            </a:r>
          </a:p>
          <a:p>
            <a:pPr>
              <a:spcAft>
                <a:spcPts val="200"/>
              </a:spcAft>
              <a:defRPr sz="1500" b="0">
                <a:solidFill>
                  <a:srgbClr val="344861"/>
                </a:solidFill>
                <a:latin typeface="Noto Sans KR"/>
              </a:defRPr>
            </a:pPr>
            <a:r>
              <a:t>2026.03.24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91250"/>
            <a:ext cx="10668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90"/>
                </a:solidFill>
                <a:latin typeface="Noto Sans KR"/>
              </a:defRPr>
            </a:pPr>
            <a:r>
              <a:t>적용 기간: 런칭 L-4주 ~ L-1주 (런칭 이후는 B존 TF 및 주간 S&amp;OP로 전환)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1450"/>
            <a:ext cx="76200" cy="66865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9100"/>
            <a:ext cx="10668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B"/>
                </a:solidFill>
                <a:latin typeface="Noto Sans KR"/>
              </a:defRPr>
            </a:pPr>
            <a:r>
              <a:t>개요: 목적 · 적용 범위 · 참여 조직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43000"/>
            <a:ext cx="10668000" cy="14097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333500"/>
            <a:ext cx="2476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B"/>
                </a:solidFill>
                <a:latin typeface="Noto Sans KR"/>
              </a:defRPr>
            </a:pPr>
            <a:r>
              <a:t>1)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38300"/>
            <a:ext cx="102108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신규 지역 진출의 표준 기획 프로세스 정립</a:t>
            </a:r>
          </a:p>
          <a:p>
            <a:pPr>
              <a:spcAft>
                <a:spcPts val="200"/>
              </a:spcAft>
              <a:defRPr sz="1300" b="0">
                <a:solidFill>
                  <a:srgbClr val="344861"/>
                </a:solidFill>
                <a:latin typeface="Noto Sans KR"/>
              </a:defRPr>
            </a:pPr>
            <a:r>
              <a:t>지역 확정 → 권역(Zone) 설계 → 원/판가 설정 → 영업 목표물량·기사 공급목표 수립까지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24150"/>
            <a:ext cx="10668000" cy="1257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914650"/>
            <a:ext cx="2476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B"/>
                </a:solidFill>
                <a:latin typeface="Noto Sans KR"/>
              </a:defRPr>
            </a:pPr>
            <a:r>
              <a:t>2) 적용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0" y="3276600"/>
            <a:ext cx="992505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F3B"/>
                </a:solidFill>
                <a:latin typeface="Noto Sans KR"/>
              </a:defRPr>
            </a:pPr>
            <a:r>
              <a:t>런칭 L-4주 ~ L-1주 (런칭 전)</a:t>
            </a:r>
          </a:p>
          <a:p>
            <a:pPr>
              <a:spcAft>
                <a:spcPts val="200"/>
              </a:spcAft>
              <a:defRPr sz="1300" b="0">
                <a:solidFill>
                  <a:srgbClr val="344861"/>
                </a:solidFill>
                <a:latin typeface="Noto Sans KR"/>
              </a:defRPr>
            </a:pPr>
            <a:r>
              <a:t>런칭 이후에는 B존 TF 워크플로우로 전환, 초기 기획 이행 점검·조정은 주간 S&amp;OP 미팅(별도 SOP)으로 운영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29100"/>
            <a:ext cx="10668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B"/>
                </a:solidFill>
                <a:latin typeface="Noto Sans KR"/>
              </a:defRPr>
            </a:pPr>
            <a:r>
              <a:t>3) 참여 조직 및 역할 (R&amp;R)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7250"/>
            <a:ext cx="3429000" cy="1809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667250"/>
            <a:ext cx="3429000" cy="66675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85775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기획조직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조율 및 플래닝 하달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391150"/>
            <a:ext cx="2971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전체 기획 사이클 총괄 및 일정/산출물 관리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데이터 제공, 단계별 리뷰·승인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진출 목표(물량·공급) 최종 확정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33900" y="4667250"/>
            <a:ext cx="3429000" cy="1809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33900" y="4667250"/>
            <a:ext cx="3429000" cy="66675"/>
          </a:xfrm>
          <a:prstGeom prst="rect">
            <a:avLst/>
          </a:prstGeom>
          <a:solidFill>
            <a:srgbClr val="1B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62500" y="485775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영업조직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영업 담당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0" y="5391150"/>
            <a:ext cx="2971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권역(Zone) 기획 및 시장/경쟁사 조사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판가 설정 및 영업 목표물량 수립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상점 파이프라인 관리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3400" y="4667250"/>
            <a:ext cx="3429000" cy="1809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3400" y="4667250"/>
            <a:ext cx="3429000" cy="66675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0" y="485775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운영조직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공급 담당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0" y="5391150"/>
            <a:ext cx="29718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협력사(벤더) 확보 가능성 검토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기사 원가·보상 설계 및 공급 기획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배송 Capa 산출 (세트/프렌즈)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610350"/>
            <a:ext cx="10668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90"/>
                </a:solidFill>
                <a:latin typeface="Noto Sans KR"/>
              </a:defRPr>
            </a:pPr>
            <a:r>
              <a:t>조직별 역할은 단계별로 '주도/협의/검토'가 달라지며, 본 SOP는 런칭 전 4주 기획 구간의 표준 흐름을 정의합니다.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1450"/>
            <a:ext cx="76200" cy="66865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668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B"/>
                </a:solidFill>
                <a:latin typeface="Noto Sans KR"/>
              </a:defRPr>
            </a:pPr>
            <a:r>
              <a:t>전체 프로세스 흐름 (L-4주 → 런칭)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009650"/>
            <a:ext cx="10668000" cy="34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5850" y="1123950"/>
            <a:ext cx="114300" cy="114300"/>
          </a:xfrm>
          <a:prstGeom prst="ellipse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7300" y="1047750"/>
            <a:ext cx="133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4861"/>
                </a:solidFill>
                <a:latin typeface="Noto Sans KR"/>
              </a:defRPr>
            </a:pPr>
            <a:r>
              <a:t>기획(주도)</a:t>
            </a:r>
          </a:p>
        </p:txBody>
      </p:sp>
      <p:sp>
        <p:nvSpPr>
          <p:cNvPr id="8" name="Oval 7"/>
          <p:cNvSpPr/>
          <p:nvPr/>
        </p:nvSpPr>
        <p:spPr>
          <a:xfrm>
            <a:off x="2381250" y="1123950"/>
            <a:ext cx="114300" cy="114300"/>
          </a:xfrm>
          <a:prstGeom prst="ellipse">
            <a:avLst/>
          </a:prstGeom>
          <a:solidFill>
            <a:srgbClr val="1B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2700" y="1047750"/>
            <a:ext cx="133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4861"/>
                </a:solidFill>
                <a:latin typeface="Noto Sans KR"/>
              </a:defRPr>
            </a:pPr>
            <a:r>
              <a:t>영업(주도)</a:t>
            </a:r>
          </a:p>
        </p:txBody>
      </p:sp>
      <p:sp>
        <p:nvSpPr>
          <p:cNvPr id="10" name="Oval 9"/>
          <p:cNvSpPr/>
          <p:nvPr/>
        </p:nvSpPr>
        <p:spPr>
          <a:xfrm>
            <a:off x="3676650" y="1123950"/>
            <a:ext cx="114300" cy="114300"/>
          </a:xfrm>
          <a:prstGeom prst="ellipse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8100" y="1047750"/>
            <a:ext cx="1333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4861"/>
                </a:solidFill>
                <a:latin typeface="Noto Sans KR"/>
              </a:defRPr>
            </a:pPr>
            <a:r>
              <a:t>운영(주도/검토)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0" y="1047750"/>
            <a:ext cx="3619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Step 4-1/4-2는 병렬 진행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1981200"/>
            <a:ext cx="9906000" cy="19050"/>
          </a:xfrm>
          <a:prstGeom prst="rect">
            <a:avLst/>
          </a:prstGeom>
          <a:solidFill>
            <a:srgbClr val="D7E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28750" y="1885950"/>
            <a:ext cx="209550" cy="209550"/>
          </a:xfrm>
          <a:prstGeom prst="ellipse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2286000"/>
            <a:ext cx="2190750" cy="1428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286000"/>
            <a:ext cx="2190750" cy="66675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2457450"/>
            <a:ext cx="188595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F3B"/>
                </a:solidFill>
                <a:latin typeface="Noto Sans KR"/>
              </a:defRPr>
            </a:pPr>
            <a:r>
              <a:t>Step 1. 진출 지역 확정</a:t>
            </a:r>
          </a:p>
          <a:p>
            <a:pPr>
              <a:spcAft>
                <a:spcPts val="200"/>
              </a:spcAft>
              <a:defRPr sz="1100" b="1">
                <a:solidFill>
                  <a:srgbClr val="6B7A90"/>
                </a:solidFill>
                <a:latin typeface="Noto Sans KR"/>
              </a:defRPr>
            </a:pPr>
            <a:r>
              <a:t>L-4주 · 기획 주도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2952750"/>
            <a:ext cx="18859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344861"/>
                </a:solidFill>
                <a:latin typeface="Noto Sans KR"/>
              </a:defRPr>
            </a:pPr>
            <a:r>
              <a:t>산출물: 진출 대상 지역 확정안</a:t>
            </a:r>
          </a:p>
        </p:txBody>
      </p:sp>
      <p:sp>
        <p:nvSpPr>
          <p:cNvPr id="19" name="Oval 18"/>
          <p:cNvSpPr/>
          <p:nvPr/>
        </p:nvSpPr>
        <p:spPr>
          <a:xfrm>
            <a:off x="3714750" y="1885950"/>
            <a:ext cx="209550" cy="209550"/>
          </a:xfrm>
          <a:prstGeom prst="ellipse">
            <a:avLst/>
          </a:prstGeom>
          <a:solidFill>
            <a:srgbClr val="1B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00400" y="2286000"/>
            <a:ext cx="2190750" cy="1428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2286000"/>
            <a:ext cx="2190750" cy="66675"/>
          </a:xfrm>
          <a:prstGeom prst="rect">
            <a:avLst/>
          </a:prstGeom>
          <a:solidFill>
            <a:srgbClr val="1B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2800" y="2457450"/>
            <a:ext cx="188595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F3B"/>
                </a:solidFill>
                <a:latin typeface="Noto Sans KR"/>
              </a:defRPr>
            </a:pPr>
            <a:r>
              <a:t>Step 2. 권역 기획</a:t>
            </a:r>
          </a:p>
          <a:p>
            <a:pPr>
              <a:spcAft>
                <a:spcPts val="200"/>
              </a:spcAft>
              <a:defRPr sz="1100" b="1">
                <a:solidFill>
                  <a:srgbClr val="6B7A90"/>
                </a:solidFill>
                <a:latin typeface="Noto Sans KR"/>
              </a:defRPr>
            </a:pPr>
            <a:r>
              <a:t>L-4~3주 · 영업 주도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2800" y="2952750"/>
            <a:ext cx="18859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344861"/>
                </a:solidFill>
                <a:latin typeface="Noto Sans KR"/>
              </a:defRPr>
            </a:pPr>
            <a:r>
              <a:t>산출물: 권역 맵 · Zone 목록 · 관리정책</a:t>
            </a:r>
          </a:p>
        </p:txBody>
      </p:sp>
      <p:sp>
        <p:nvSpPr>
          <p:cNvPr id="24" name="Oval 23"/>
          <p:cNvSpPr/>
          <p:nvPr/>
        </p:nvSpPr>
        <p:spPr>
          <a:xfrm>
            <a:off x="6000750" y="1885950"/>
            <a:ext cx="209550" cy="209550"/>
          </a:xfrm>
          <a:prstGeom prst="ellipse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0" y="2286000"/>
            <a:ext cx="2190750" cy="1428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0" y="2286000"/>
            <a:ext cx="2190750" cy="66675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38800" y="2457450"/>
            <a:ext cx="188595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F3B"/>
                </a:solidFill>
                <a:latin typeface="Noto Sans KR"/>
              </a:defRPr>
            </a:pPr>
            <a:r>
              <a:t>Step 3. 원/판가·기준</a:t>
            </a:r>
          </a:p>
          <a:p>
            <a:pPr>
              <a:spcAft>
                <a:spcPts val="200"/>
              </a:spcAft>
              <a:defRPr sz="1100" b="1">
                <a:solidFill>
                  <a:srgbClr val="6B7A90"/>
                </a:solidFill>
                <a:latin typeface="Noto Sans KR"/>
              </a:defRPr>
            </a:pPr>
            <a:r>
              <a:t>L-3~2.5주 · 영업+운영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38800" y="2952750"/>
            <a:ext cx="18859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344861"/>
                </a:solidFill>
                <a:latin typeface="Noto Sans KR"/>
              </a:defRPr>
            </a:pPr>
            <a:r>
              <a:t>산출물: 원/판가표 · 영업기준표 · 개시일자</a:t>
            </a:r>
          </a:p>
        </p:txBody>
      </p:sp>
      <p:sp>
        <p:nvSpPr>
          <p:cNvPr id="29" name="Oval 28"/>
          <p:cNvSpPr/>
          <p:nvPr/>
        </p:nvSpPr>
        <p:spPr>
          <a:xfrm>
            <a:off x="8286750" y="1885950"/>
            <a:ext cx="209550" cy="209550"/>
          </a:xfrm>
          <a:prstGeom prst="ellipse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72400" y="2286000"/>
            <a:ext cx="2286000" cy="2571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2286000"/>
            <a:ext cx="2286000" cy="66675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43850" y="2457450"/>
            <a:ext cx="19621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F3B"/>
                </a:solidFill>
                <a:latin typeface="Noto Sans KR"/>
              </a:defRPr>
            </a:pPr>
            <a:r>
              <a:t>Step 4. 목표 확정 (병렬)</a:t>
            </a:r>
          </a:p>
          <a:p>
            <a:pPr>
              <a:spcAft>
                <a:spcPts val="200"/>
              </a:spcAft>
              <a:defRPr sz="1100" b="1">
                <a:solidFill>
                  <a:srgbClr val="6B7A90"/>
                </a:solidFill>
                <a:latin typeface="Noto Sans KR"/>
              </a:defRPr>
            </a:pPr>
            <a:r>
              <a:t>L-2.5~1주 · 기획 주도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43850" y="2895600"/>
            <a:ext cx="1962150" cy="6477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3400" y="3009900"/>
            <a:ext cx="161925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B1F3B"/>
                </a:solidFill>
                <a:latin typeface="Noto Sans KR"/>
              </a:defRPr>
            </a:pPr>
            <a:r>
              <a:t>4-1 영업 목표물량</a:t>
            </a:r>
          </a:p>
          <a:p>
            <a:pPr>
              <a:spcAft>
                <a:spcPts val="200"/>
              </a:spcAft>
              <a:defRPr sz="1100" b="0">
                <a:solidFill>
                  <a:srgbClr val="344861"/>
                </a:solidFill>
                <a:latin typeface="Noto Sans KR"/>
              </a:defRPr>
            </a:pPr>
            <a:r>
              <a:t>Zone×주차 목표 오더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657600"/>
            <a:ext cx="1962150" cy="6477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53400" y="3771900"/>
            <a:ext cx="161925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B1F3B"/>
                </a:solidFill>
                <a:latin typeface="Noto Sans KR"/>
              </a:defRPr>
            </a:pPr>
            <a:r>
              <a:t>4-2 기사 공급목표</a:t>
            </a:r>
          </a:p>
          <a:p>
            <a:pPr>
              <a:spcAft>
                <a:spcPts val="200"/>
              </a:spcAft>
              <a:defRPr sz="1100" b="0">
                <a:solidFill>
                  <a:srgbClr val="344861"/>
                </a:solidFill>
                <a:latin typeface="Noto Sans KR"/>
              </a:defRPr>
            </a:pPr>
            <a:r>
              <a:t>세트 수 + 프렌즈 목표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3850" y="4381500"/>
            <a:ext cx="19621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1F3B"/>
                </a:solidFill>
                <a:latin typeface="Noto Sans KR"/>
              </a:defRPr>
            </a:pPr>
            <a:r>
              <a:t>산출물</a:t>
            </a:r>
          </a:p>
          <a:p>
            <a:pPr>
              <a:spcAft>
                <a:spcPts val="200"/>
              </a:spcAft>
              <a:defRPr sz="1100" b="0">
                <a:solidFill>
                  <a:srgbClr val="344861"/>
                </a:solidFill>
                <a:latin typeface="Noto Sans KR"/>
              </a:defRPr>
            </a:pPr>
            <a:r>
              <a:t>Zone×주차 목표(오더/세트/프렌즈)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53650" y="2286000"/>
            <a:ext cx="1428750" cy="1428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53650" y="2286000"/>
            <a:ext cx="1428750" cy="66675"/>
          </a:xfrm>
          <a:prstGeom prst="rect">
            <a:avLst/>
          </a:prstGeom>
          <a:solidFill>
            <a:srgbClr val="6B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06050" y="2457450"/>
            <a:ext cx="1143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F3B"/>
                </a:solidFill>
                <a:latin typeface="Noto Sans KR"/>
              </a:defRPr>
            </a:pPr>
            <a:r>
              <a:t>런칭</a:t>
            </a:r>
          </a:p>
          <a:p>
            <a:pPr>
              <a:spcAft>
                <a:spcPts val="200"/>
              </a:spcAft>
              <a:defRPr sz="1100" b="1">
                <a:solidFill>
                  <a:srgbClr val="6B7A90"/>
                </a:solidFill>
                <a:latin typeface="Noto Sans KR"/>
              </a:defRPr>
            </a:pPr>
            <a:r>
              <a:t>서비스 개시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06050" y="2952750"/>
            <a:ext cx="1143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1F3B"/>
                </a:solidFill>
                <a:latin typeface="Noto Sans KR"/>
              </a:defRPr>
            </a:pPr>
            <a:r>
              <a:t>운영 전환</a:t>
            </a:r>
          </a:p>
          <a:p>
            <a:pPr>
              <a:spcAft>
                <a:spcPts val="200"/>
              </a:spcAft>
              <a:defRPr sz="1100" b="0">
                <a:solidFill>
                  <a:srgbClr val="344861"/>
                </a:solidFill>
                <a:latin typeface="Noto Sans KR"/>
              </a:defRPr>
            </a:pPr>
            <a:r>
              <a:t>B존 TF / 주간 S&amp;OP(별도 SOP)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143500"/>
            <a:ext cx="10668000" cy="123825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5286375"/>
            <a:ext cx="10287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F3B"/>
                </a:solidFill>
                <a:latin typeface="Noto Sans KR"/>
              </a:defRPr>
            </a:pPr>
            <a:r>
              <a:t>시스템 연동 포인트 (런칭 전)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5572125"/>
            <a:ext cx="3352800" cy="647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95400" y="5686425"/>
            <a:ext cx="30480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1F3B"/>
                </a:solidFill>
                <a:latin typeface="Noto Sans KR"/>
              </a:defRPr>
            </a:pPr>
            <a:r>
              <a:t>Step 2: 인트라 권역관리</a:t>
            </a:r>
          </a:p>
          <a:p>
            <a:pPr>
              <a:spcAft>
                <a:spcPts val="200"/>
              </a:spcAft>
              <a:defRPr sz="1100" b="0">
                <a:solidFill>
                  <a:srgbClr val="344861"/>
                </a:solidFill>
                <a:latin typeface="Noto Sans KR"/>
              </a:defRPr>
            </a:pPr>
            <a:r>
              <a:t>관리정책 생성 + 연결 Zone 설정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48200" y="5572125"/>
            <a:ext cx="3352800" cy="647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00600" y="5686425"/>
            <a:ext cx="30480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1F3B"/>
                </a:solidFill>
                <a:latin typeface="Noto Sans KR"/>
              </a:defRPr>
            </a:pPr>
            <a:r>
              <a:t>Step 3: 인트라 권역관리</a:t>
            </a:r>
          </a:p>
          <a:p>
            <a:pPr>
              <a:spcAft>
                <a:spcPts val="200"/>
              </a:spcAft>
              <a:defRPr sz="1100" b="0">
                <a:solidFill>
                  <a:srgbClr val="344861"/>
                </a:solidFill>
                <a:latin typeface="Noto Sans KR"/>
              </a:defRPr>
            </a:pPr>
            <a:r>
              <a:t>기사 원가 요금제 + 보상기준 입력(전체 저장)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53400" y="5572125"/>
            <a:ext cx="3352800" cy="647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05800" y="5686425"/>
            <a:ext cx="30480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B1F3B"/>
                </a:solidFill>
                <a:latin typeface="Noto Sans KR"/>
              </a:defRPr>
            </a:pPr>
            <a:r>
              <a:t>Step 4-2: 세트분배 관리</a:t>
            </a:r>
          </a:p>
          <a:p>
            <a:pPr>
              <a:spcAft>
                <a:spcPts val="200"/>
              </a:spcAft>
              <a:defRPr sz="1100" b="0">
                <a:solidFill>
                  <a:srgbClr val="344861"/>
                </a:solidFill>
                <a:latin typeface="Noto Sans KR"/>
              </a:defRPr>
            </a:pPr>
            <a:r>
              <a:t>Zone-벤더 연결 + 벤더별 세트 수 입력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6553200"/>
            <a:ext cx="10668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90"/>
                </a:solidFill>
                <a:latin typeface="Noto Sans KR"/>
              </a:defRPr>
            </a:pPr>
            <a:r>
              <a:t>본 슬라이드는 런칭 전 4주 기획 구간의 표준 흐름(산출물·시스템 연동)을 한 장으로 요약합니다.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1450"/>
            <a:ext cx="76200" cy="66865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150"/>
            <a:ext cx="1066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B"/>
                </a:solidFill>
                <a:latin typeface="Noto Sans KR"/>
              </a:defRPr>
            </a:pPr>
            <a:r>
              <a:t>Step 1. 진출 지역 확정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76300"/>
            <a:ext cx="10668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A90"/>
                </a:solidFill>
                <a:latin typeface="Noto Sans KR"/>
              </a:defRPr>
            </a:pPr>
            <a:r>
              <a:t>L-4주 킥오프 | 기획 주도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57300"/>
            <a:ext cx="10668000" cy="85725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28750" y="1409700"/>
            <a:ext cx="99822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F3B"/>
                </a:solidFill>
                <a:latin typeface="Noto Sans KR"/>
              </a:defRPr>
            </a:pPr>
            <a:r>
              <a:t>목적</a:t>
            </a:r>
          </a:p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사전 후보 중 진출 대상 지역을 최종 확정하고 기획을 착수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505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B"/>
                </a:solidFill>
                <a:latin typeface="Noto Sans KR"/>
              </a:defRPr>
            </a:pPr>
            <a:r>
              <a:t>조직별 역할 (R&amp;R)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28900"/>
            <a:ext cx="34290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628900"/>
            <a:ext cx="3429000" cy="66675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81940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기획 (주도)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Kick-off &amp; 의사결정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2800"/>
            <a:ext cx="2971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킥오프 미팅 주재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진출 지역 최종 확정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의사결정 및 공지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3900" y="2628900"/>
            <a:ext cx="34290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3900" y="2628900"/>
            <a:ext cx="3429000" cy="66675"/>
          </a:xfrm>
          <a:prstGeom prst="rect">
            <a:avLst/>
          </a:prstGeom>
          <a:solidFill>
            <a:srgbClr val="1B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2500" y="281940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영업 (의견)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시장/파이프라인 관점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0" y="3352800"/>
            <a:ext cx="2971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상점 영업 파이프라인 상황 공유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시장 관점의 리스크/기회 의견 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3400" y="2628900"/>
            <a:ext cx="34290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3400" y="2628900"/>
            <a:ext cx="3429000" cy="66675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0" y="281940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운영 (의견)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공급 실현성 관점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3352800"/>
            <a:ext cx="2971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벤더/프렌즈 수급 가능성 의견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동선·실행 가능성 관점의 리스크 제시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695950"/>
            <a:ext cx="10668000" cy="895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829300"/>
            <a:ext cx="4953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B1F3B"/>
                </a:solidFill>
                <a:latin typeface="Noto Sans KR"/>
              </a:defRPr>
            </a:pPr>
            <a:r>
              <a:t>산출물</a:t>
            </a:r>
          </a:p>
          <a:p>
            <a:pPr>
              <a:spcAft>
                <a:spcPts val="200"/>
              </a:spcAft>
              <a:defRPr sz="1300" b="0">
                <a:solidFill>
                  <a:srgbClr val="344861"/>
                </a:solidFill>
                <a:latin typeface="Noto Sans KR"/>
              </a:defRPr>
            </a:pPr>
            <a:r>
              <a:t>진출 대상 지역 확정안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8400" y="5829300"/>
            <a:ext cx="5181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B1F3B"/>
                </a:solidFill>
                <a:latin typeface="Noto Sans KR"/>
              </a:defRPr>
            </a:pPr>
            <a:r>
              <a:t>완료 기준</a:t>
            </a:r>
          </a:p>
          <a:p>
            <a:pPr>
              <a:spcAft>
                <a:spcPts val="200"/>
              </a:spcAft>
              <a:defRPr sz="1300" b="0">
                <a:solidFill>
                  <a:srgbClr val="344861"/>
                </a:solidFill>
                <a:latin typeface="Noto Sans KR"/>
              </a:defRPr>
            </a:pPr>
            <a:r>
              <a:t>킥오프에서 지역 확정 및 다음 단계 착수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610350"/>
            <a:ext cx="10668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90"/>
                </a:solidFill>
                <a:latin typeface="Noto Sans KR"/>
              </a:defRPr>
            </a:pPr>
            <a:r>
              <a:t>PoC 단계에서는 후보지역이 사전 선정되어 있으며, 킥오프에서 최종 확정합니다.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1450"/>
            <a:ext cx="76200" cy="66865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150"/>
            <a:ext cx="1066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B"/>
                </a:solidFill>
                <a:latin typeface="Noto Sans KR"/>
              </a:defRPr>
            </a:pPr>
            <a:r>
              <a:t>Step 2. 권역 기획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76300"/>
            <a:ext cx="10668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A90"/>
                </a:solidFill>
                <a:latin typeface="Noto Sans KR"/>
              </a:defRPr>
            </a:pPr>
            <a:r>
              <a:t>L-4~3주 | 영업 주도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57300"/>
            <a:ext cx="10668000" cy="85725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28750" y="1409700"/>
            <a:ext cx="99822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F3B"/>
                </a:solidFill>
                <a:latin typeface="Noto Sans KR"/>
              </a:defRPr>
            </a:pPr>
            <a:r>
              <a:t>목적</a:t>
            </a:r>
          </a:p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목표지역을 상권/거주지 특성에 맞는 권역(Zone)으로 분할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505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B"/>
                </a:solidFill>
                <a:latin typeface="Noto Sans KR"/>
              </a:defRPr>
            </a:pPr>
            <a:r>
              <a:t>조직별 역할 (R&amp;R)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28900"/>
            <a:ext cx="34290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628900"/>
            <a:ext cx="3429000" cy="66675"/>
          </a:xfrm>
          <a:prstGeom prst="rect">
            <a:avLst/>
          </a:prstGeom>
          <a:solidFill>
            <a:srgbClr val="1B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81940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영업 (주도)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Zone 설계 (Sales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2800"/>
            <a:ext cx="2971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경쟁사 권역 구조/커버리지 분석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Zone 초안 설계 (상점 밀집도·상권 특성 반영)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인트라 등록용 관리정책 구조 설계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3900" y="2628900"/>
            <a:ext cx="34290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3900" y="2628900"/>
            <a:ext cx="3429000" cy="66675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2500" y="281940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운영 (검토)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공급/동선 실현성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0" y="3352800"/>
            <a:ext cx="2971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협력사(벤더) 확보 가능성 검토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배송 Capa·동선 효율성 검증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공급 관점 Zone 조정 피드백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3400" y="2628900"/>
            <a:ext cx="34290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3400" y="2628900"/>
            <a:ext cx="3429000" cy="66675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0" y="281940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기획 (조율)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기준 제시 &amp; 최종 승인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3352800"/>
            <a:ext cx="2971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Zone 설계 기준 가이드 제공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영업/운영 의견 종합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Zone 최종 확정 승인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695950"/>
            <a:ext cx="10668000" cy="895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829300"/>
            <a:ext cx="4953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B1F3B"/>
                </a:solidFill>
                <a:latin typeface="Noto Sans KR"/>
              </a:defRPr>
            </a:pPr>
            <a:r>
              <a:t>산출물</a:t>
            </a:r>
          </a:p>
          <a:p>
            <a:pPr>
              <a:spcAft>
                <a:spcPts val="200"/>
              </a:spcAft>
              <a:defRPr sz="1300" b="0">
                <a:solidFill>
                  <a:srgbClr val="344861"/>
                </a:solidFill>
                <a:latin typeface="Noto Sans KR"/>
              </a:defRPr>
            </a:pPr>
            <a:r>
              <a:t>권역 구획 맵 · Zone 목록표 · 관리정책(Zone 연결 완료)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8400" y="5829300"/>
            <a:ext cx="5181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B1F3B"/>
                </a:solidFill>
                <a:latin typeface="Noto Sans KR"/>
              </a:defRPr>
            </a:pPr>
            <a:r>
              <a:t>시스템</a:t>
            </a:r>
          </a:p>
          <a:p>
            <a:pPr>
              <a:spcAft>
                <a:spcPts val="200"/>
              </a:spcAft>
              <a:defRPr sz="1300" b="0">
                <a:solidFill>
                  <a:srgbClr val="344861"/>
                </a:solidFill>
                <a:latin typeface="Noto Sans KR"/>
              </a:defRPr>
            </a:pPr>
            <a:r>
              <a:t>인트라 권역관리 → 관리정책 생성 + 연결 Zone 등록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610350"/>
            <a:ext cx="10668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90"/>
                </a:solidFill>
                <a:latin typeface="Noto Sans KR"/>
              </a:defRPr>
            </a:pPr>
            <a:r>
              <a:t>관리정책은 Step 2에서 생성/Zone 연결까지 진행하며, 보상·원가·세트 물량 입력은 후속 단계에서 설정합니다.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1450"/>
            <a:ext cx="76200" cy="66865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150"/>
            <a:ext cx="1066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B"/>
                </a:solidFill>
                <a:latin typeface="Noto Sans KR"/>
              </a:defRPr>
            </a:pPr>
            <a:r>
              <a:t>Step 3. 원/판가 + 영업기준 기획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76300"/>
            <a:ext cx="10668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A90"/>
                </a:solidFill>
                <a:latin typeface="Noto Sans KR"/>
              </a:defRPr>
            </a:pPr>
            <a:r>
              <a:t>L-3~2.5주 | 영업(판가) + 운영(원가) + 영업기준 협의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57300"/>
            <a:ext cx="10668000" cy="85725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28750" y="1409700"/>
            <a:ext cx="99822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F3B"/>
                </a:solidFill>
                <a:latin typeface="Noto Sans KR"/>
              </a:defRPr>
            </a:pPr>
            <a:r>
              <a:t>목적</a:t>
            </a:r>
          </a:p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권역별 영업이익 목표를 고려하여 상점 판가와 기사 원가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505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B"/>
                </a:solidFill>
                <a:latin typeface="Noto Sans KR"/>
              </a:defRPr>
            </a:pPr>
            <a:r>
              <a:t>조직별 역할 (R&amp;R)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28900"/>
            <a:ext cx="34290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628900"/>
            <a:ext cx="3429000" cy="66675"/>
          </a:xfrm>
          <a:prstGeom prst="rect">
            <a:avLst/>
          </a:prstGeom>
          <a:solidFill>
            <a:srgbClr val="1B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81940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영업 (판가 주도)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시장·가격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2800"/>
            <a:ext cx="2971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경쟁사 배달비 조사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상점 지불의사 조사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영업이익 목표 반영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권역별 판가 확정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3900" y="2628900"/>
            <a:ext cx="34290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3900" y="2628900"/>
            <a:ext cx="3429000" cy="66675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2500" y="281940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운영 (원가 주도)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요금·보상 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0" y="3352800"/>
            <a:ext cx="2971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기사 원가 산출(판가에서 역산)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원가 요금제 설계(50m당·픽업·배송완료)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보상기준 설계(수락률·성공 슬롯)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수익성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3400" y="2628900"/>
            <a:ext cx="34290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3400" y="2628900"/>
            <a:ext cx="3429000" cy="66675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0" y="281940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기획 (조율)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정합성·손익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3352800"/>
            <a:ext cx="2971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원/판가 정합성 리뷰(판가-원가=영업이익)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P&amp;L 시뮬레이션(시나리오별 손익)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승인 및 의사결정 지원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695950"/>
            <a:ext cx="10668000" cy="895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829300"/>
            <a:ext cx="4953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B1F3B"/>
                </a:solidFill>
                <a:latin typeface="Noto Sans KR"/>
              </a:defRPr>
            </a:pPr>
            <a:r>
              <a:t>산출물</a:t>
            </a:r>
          </a:p>
          <a:p>
            <a:pPr>
              <a:spcAft>
                <a:spcPts val="200"/>
              </a:spcAft>
              <a:defRPr sz="1300" b="0">
                <a:solidFill>
                  <a:srgbClr val="344861"/>
                </a:solidFill>
                <a:latin typeface="Noto Sans KR"/>
              </a:defRPr>
            </a:pPr>
            <a:r>
              <a:t>원/판가표, 수익성 시뮬레이션, 인트라 원가/보상, Zone별 영업 기준표, 영업 개시 일자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8400" y="5829300"/>
            <a:ext cx="5181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B1F3B"/>
                </a:solidFill>
                <a:latin typeface="Noto Sans KR"/>
              </a:defRPr>
            </a:pPr>
            <a:r>
              <a:t>시스템</a:t>
            </a:r>
          </a:p>
          <a:p>
            <a:pPr>
              <a:spcAft>
                <a:spcPts val="200"/>
              </a:spcAft>
              <a:defRPr sz="1300" b="0">
                <a:solidFill>
                  <a:srgbClr val="344861"/>
                </a:solidFill>
                <a:latin typeface="Noto Sans KR"/>
              </a:defRPr>
            </a:pPr>
            <a:r>
              <a:t>인트라 권역관리 원가/보상 입력 · 영업기준표 · 영업 개시 일자 확정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610350"/>
            <a:ext cx="10668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90"/>
                </a:solidFill>
                <a:latin typeface="Noto Sans KR"/>
              </a:defRPr>
            </a:pPr>
            <a:r>
              <a:t>영업 기준표(Zone별 운영시간·배송 권역)와 영업 개시 일자는 기획+영업+운영 협의 후 기획이 확정합니다.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1450"/>
            <a:ext cx="76200" cy="66865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150"/>
            <a:ext cx="1066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B"/>
                </a:solidFill>
                <a:latin typeface="Noto Sans KR"/>
              </a:defRPr>
            </a:pPr>
            <a:r>
              <a:t>Step 4-1. 영업 목표물량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76300"/>
            <a:ext cx="10668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A90"/>
                </a:solidFill>
                <a:latin typeface="Noto Sans KR"/>
              </a:defRPr>
            </a:pPr>
            <a:r>
              <a:t>L-2.5~1주 | 기획 주도 | ※ Step 4-2와 병렬 진행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57300"/>
            <a:ext cx="10668000" cy="85725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28750" y="1409700"/>
            <a:ext cx="99822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F3B"/>
                </a:solidFill>
                <a:latin typeface="Noto Sans KR"/>
              </a:defRPr>
            </a:pPr>
            <a:r>
              <a:t>목적</a:t>
            </a:r>
          </a:p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사업계획 기반으로 Zone×주차별 영업 목표(오더 건수)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505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B"/>
                </a:solidFill>
                <a:latin typeface="Noto Sans KR"/>
              </a:defRPr>
            </a:pPr>
            <a:r>
              <a:t>조직별 역할 (R&amp;R)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28900"/>
            <a:ext cx="34290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628900"/>
            <a:ext cx="3429000" cy="66675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81940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기획 (주도)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목표 설정 &amp; 확정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2800"/>
            <a:ext cx="2971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사업계획 기반 목표 오더 초안 작성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Zone별·주차별 목표 하달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영업 의견 반영 후 최종 확정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3900" y="2628900"/>
            <a:ext cx="34290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3900" y="2628900"/>
            <a:ext cx="3429000" cy="66675"/>
          </a:xfrm>
          <a:prstGeom prst="rect">
            <a:avLst/>
          </a:prstGeom>
          <a:solidFill>
            <a:srgbClr val="1B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2500" y="281940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영업 (협의)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현장/파이프라인 반영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0" y="3352800"/>
            <a:ext cx="2971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상점 파이프라인 현황 기반 조정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시장 상황/경쟁 구도 반영 의견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Zone·주차별 목표 조정안 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3400" y="2628900"/>
            <a:ext cx="34290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3400" y="2628900"/>
            <a:ext cx="3429000" cy="66675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0" y="281940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운영 (참고)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Capa 관점 의견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3352800"/>
            <a:ext cx="2971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목표 물량 대비 배송 Capa 의견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공급 계획과의 정합성 확인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Step 4-2(공급목표)와 연동 피드백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695950"/>
            <a:ext cx="10668000" cy="895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829300"/>
            <a:ext cx="4953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B1F3B"/>
                </a:solidFill>
                <a:latin typeface="Noto Sans KR"/>
              </a:defRPr>
            </a:pPr>
            <a:r>
              <a:t>산출물</a:t>
            </a:r>
          </a:p>
          <a:p>
            <a:pPr>
              <a:spcAft>
                <a:spcPts val="200"/>
              </a:spcAft>
              <a:defRPr sz="1300" b="0">
                <a:solidFill>
                  <a:srgbClr val="344861"/>
                </a:solidFill>
                <a:latin typeface="Noto Sans KR"/>
              </a:defRPr>
            </a:pPr>
            <a:r>
              <a:t>Zone×주차별 영업 목표(오더)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8400" y="5829300"/>
            <a:ext cx="5181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B1F3B"/>
                </a:solidFill>
                <a:latin typeface="Noto Sans KR"/>
              </a:defRPr>
            </a:pPr>
            <a:r>
              <a:t>프로세스</a:t>
            </a:r>
          </a:p>
          <a:p>
            <a:pPr>
              <a:spcAft>
                <a:spcPts val="200"/>
              </a:spcAft>
              <a:defRPr sz="1300" b="0">
                <a:solidFill>
                  <a:srgbClr val="344861"/>
                </a:solidFill>
                <a:latin typeface="Noto Sans KR"/>
              </a:defRPr>
            </a:pPr>
            <a:r>
              <a:t>기획 초안 하달 → 영업 조정 의견 → 협의 → 기획 최종 확정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610350"/>
            <a:ext cx="10668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90"/>
                </a:solidFill>
                <a:latin typeface="Noto Sans KR"/>
              </a:defRPr>
            </a:pPr>
            <a:r>
              <a:t>Step 4-1과 Step 4-2는 동일 기간에 병렬 진행되며, 목표 물량과 공급 계획의 정합성을 함께 점검합니다.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1450"/>
            <a:ext cx="76200" cy="66865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150"/>
            <a:ext cx="10668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B"/>
                </a:solidFill>
                <a:latin typeface="Noto Sans KR"/>
              </a:defRPr>
            </a:pPr>
            <a:r>
              <a:t>Step 4-2. 기사 공급목표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76300"/>
            <a:ext cx="106680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A90"/>
                </a:solidFill>
                <a:latin typeface="Noto Sans KR"/>
              </a:defRPr>
            </a:pPr>
            <a:r>
              <a:t>L-2.5~1주 | 기획 주도 | ※ Step 4-1과 병렬 진행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57300"/>
            <a:ext cx="10668000" cy="85725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28750" y="1409700"/>
            <a:ext cx="99822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B1F3B"/>
                </a:solidFill>
                <a:latin typeface="Noto Sans KR"/>
              </a:defRPr>
            </a:pPr>
            <a:r>
              <a:t>목적</a:t>
            </a:r>
          </a:p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Zone×주차별 벤더 세트 수 및 활성 프렌즈 인원 목표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505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B"/>
                </a:solidFill>
                <a:latin typeface="Noto Sans KR"/>
              </a:defRPr>
            </a:pPr>
            <a:r>
              <a:t>조직별 역할 (R&amp;R)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28900"/>
            <a:ext cx="34290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628900"/>
            <a:ext cx="3429000" cy="66675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81940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기획 (주도)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공급목표 초안 · 확정 · 완료 선언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2800"/>
            <a:ext cx="2971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데이터 참고자료(물량 트렌드·프렌즈 생산성) 기반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Zone별·주차별 세트 수 + 프렌즈 수 초안 하달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운영 의견 반영 후 최종 확정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진출 기획 완료 선언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3900" y="2628900"/>
            <a:ext cx="34290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3900" y="2628900"/>
            <a:ext cx="3429000" cy="66675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2500" y="281940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운영 (협의)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공급 실현성 검토 ·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0" y="3352800"/>
            <a:ext cx="2971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벤더 확보 가능성 검증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프렌즈 수급 가능성 검증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조정 의견 제시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벤더 계약 조율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프렌즈 확보 계획 수립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3400" y="2628900"/>
            <a:ext cx="3429000" cy="2857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3400" y="2628900"/>
            <a:ext cx="3429000" cy="66675"/>
          </a:xfrm>
          <a:prstGeom prst="rect">
            <a:avLst/>
          </a:prstGeom>
          <a:solidFill>
            <a:srgbClr val="1B7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0" y="2819400"/>
            <a:ext cx="29718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F3B"/>
                </a:solidFill>
                <a:latin typeface="Noto Sans KR"/>
              </a:defRPr>
            </a:pPr>
            <a:r>
              <a:t>영업 (참고)</a:t>
            </a:r>
          </a:p>
          <a:p>
            <a:pPr>
              <a:spcAft>
                <a:spcPts val="200"/>
              </a:spcAft>
              <a:defRPr sz="1200" b="1">
                <a:solidFill>
                  <a:srgbClr val="6B7A90"/>
                </a:solidFill>
                <a:latin typeface="Noto Sans KR"/>
              </a:defRPr>
            </a:pPr>
            <a:r>
              <a:t>물량 리스크 관점 (4-1 연동)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3352800"/>
            <a:ext cx="2971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영업 파이프라인 대비 공급 계획 적절성 의견</a:t>
            </a:r>
          </a:p>
          <a:p>
            <a:pPr>
              <a:spcAft>
                <a:spcPts val="200"/>
              </a:spcAft>
              <a:defRPr sz="1300">
                <a:solidFill>
                  <a:srgbClr val="344861"/>
                </a:solidFill>
                <a:latin typeface="Noto Sans KR"/>
              </a:defRPr>
              <a:buChar char="•"/>
            </a:pPr>
            <a:r>
              <a:t>목표 물량 리스크 조기 공유 (Step 4-1 연동)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695950"/>
            <a:ext cx="10668000" cy="895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829300"/>
            <a:ext cx="4953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B1F3B"/>
                </a:solidFill>
                <a:latin typeface="Noto Sans KR"/>
              </a:defRPr>
            </a:pPr>
            <a:r>
              <a:t>산출물</a:t>
            </a:r>
          </a:p>
          <a:p>
            <a:pPr>
              <a:spcAft>
                <a:spcPts val="200"/>
              </a:spcAft>
              <a:defRPr sz="1300" b="0">
                <a:solidFill>
                  <a:srgbClr val="344861"/>
                </a:solidFill>
                <a:latin typeface="Noto Sans KR"/>
              </a:defRPr>
            </a:pPr>
            <a:r>
              <a:t>세트 수/프렌즈 목표, 벤더 계약 계획, 프렌즈 확보 계획, 인트라 세트분배 설정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8400" y="5829300"/>
            <a:ext cx="5181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B1F3B"/>
                </a:solidFill>
                <a:latin typeface="Noto Sans KR"/>
              </a:defRPr>
            </a:pPr>
            <a:r>
              <a:t>시스템</a:t>
            </a:r>
          </a:p>
          <a:p>
            <a:pPr>
              <a:spcAft>
                <a:spcPts val="200"/>
              </a:spcAft>
              <a:defRPr sz="1300" b="0">
                <a:solidFill>
                  <a:srgbClr val="344861"/>
                </a:solidFill>
                <a:latin typeface="Noto Sans KR"/>
              </a:defRPr>
            </a:pPr>
            <a:r>
              <a:t>세트분배 관리 → Zone-벤더 연결 + 벤더별 세트 수 입력 + 배차 엔진 연동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610350"/>
            <a:ext cx="10668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90"/>
                </a:solidFill>
                <a:latin typeface="Noto Sans KR"/>
              </a:defRPr>
            </a:pPr>
            <a:r>
              <a:t>Step 4-1(영업 목표물량)과 Step 4-2(기사 공급목표)는 병렬로 진행하며, 모두 확정 시 '진출 기획 완료'를 선언합니다.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1450"/>
            <a:ext cx="76200" cy="6686550"/>
          </a:xfrm>
          <a:prstGeom prst="rect">
            <a:avLst/>
          </a:prstGeom>
          <a:solidFill>
            <a:srgbClr val="0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10668000" cy="49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1F3B"/>
                </a:solidFill>
                <a:latin typeface="Noto Sans KR"/>
              </a:defRPr>
            </a:pPr>
            <a:r>
              <a:t>단계별 산출물 요약 &amp; 런칭 전환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952500"/>
          <a:ext cx="10668000" cy="3714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5372100"/>
                <a:gridCol w="1524000"/>
                <a:gridCol w="1790700"/>
              </a:tblGrid>
              <a:tr h="53067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1F3B"/>
                          </a:solidFill>
                          <a:latin typeface="Noto Sans KR"/>
                        </a:defRPr>
                      </a:pPr>
                      <a:r>
                        <a:t>단계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1F3B"/>
                          </a:solidFill>
                          <a:latin typeface="Noto Sans KR"/>
                        </a:defRPr>
                      </a:pPr>
                      <a:r>
                        <a:t>최종 산출물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1F3B"/>
                          </a:solidFill>
                          <a:latin typeface="Noto Sans KR"/>
                        </a:defRPr>
                      </a:pPr>
                      <a:r>
                        <a:t>확정 주체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B1F3B"/>
                          </a:solidFill>
                          <a:latin typeface="Noto Sans KR"/>
                        </a:defRPr>
                      </a:pPr>
                      <a:r>
                        <a:t>시점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53067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F3B"/>
                          </a:solidFill>
                          <a:latin typeface="Noto Sans KR"/>
                        </a:defRPr>
                      </a:pPr>
                      <a:r>
                        <a:t>Step 1</a:t>
                      </a:r>
                      <a:br/>
                      <a:r>
                        <a:t>진출 지역 확정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진출 대상 지역 확정안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기획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L-4주 킥오프</a:t>
                      </a:r>
                    </a:p>
                  </a:txBody>
                  <a:tcPr anchor="ctr"/>
                </a:tc>
              </a:tr>
              <a:tr h="53067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F3B"/>
                          </a:solidFill>
                          <a:latin typeface="Noto Sans KR"/>
                        </a:defRPr>
                      </a:pPr>
                      <a:r>
                        <a:t>Step 2</a:t>
                      </a:r>
                      <a:br/>
                      <a:r>
                        <a:t>권역 기획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권역 맵, Zone 목록, 관리정책(Zone 연결)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기획 승인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L-3주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</a:tr>
              <a:tr h="53067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F3B"/>
                          </a:solidFill>
                          <a:latin typeface="Noto Sans KR"/>
                        </a:defRPr>
                      </a:pPr>
                      <a:r>
                        <a:t>Step 3</a:t>
                      </a:r>
                      <a:br/>
                      <a:r>
                        <a:t>원/판가+영업기준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원/판가표, 수익성 시뮬레이션, 원가/보상, 영업 기준표, 영업 개시 일자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기획 승인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L-2.5주</a:t>
                      </a:r>
                    </a:p>
                  </a:txBody>
                  <a:tcPr anchor="ctr"/>
                </a:tc>
              </a:tr>
              <a:tr h="53067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F3B"/>
                          </a:solidFill>
                          <a:latin typeface="Noto Sans KR"/>
                        </a:defRPr>
                      </a:pPr>
                      <a:r>
                        <a:t>Step 4-1</a:t>
                      </a:r>
                      <a:br/>
                      <a:r>
                        <a:t>영업 목표물량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Zone×주차별 영업 목표(오더)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기획 확정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L-1주 이전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</a:tr>
              <a:tr h="53067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F3B"/>
                          </a:solidFill>
                          <a:latin typeface="Noto Sans KR"/>
                        </a:defRPr>
                      </a:pPr>
                      <a:r>
                        <a:t>Step 4-2</a:t>
                      </a:r>
                      <a:br/>
                      <a:r>
                        <a:t>기사 공급목표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세트 수/프렌즈 목표, 벤더 계약, 프렌즈 확보 계획, 세트분배 설정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기획 확정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L-1주 이전</a:t>
                      </a:r>
                    </a:p>
                  </a:txBody>
                  <a:tcPr anchor="ctr"/>
                </a:tc>
              </a:tr>
              <a:tr h="53068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B1F3B"/>
                          </a:solidFill>
                          <a:latin typeface="Noto Sans KR"/>
                        </a:defRPr>
                      </a:pPr>
                      <a:r>
                        <a:t>진출 기획 완료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Step 1~4 통합 최종 산출물 패키지 (런칭 준비본)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기획 최종 확정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44861"/>
                          </a:solidFill>
                          <a:latin typeface="Noto Sans KR"/>
                        </a:defRPr>
                      </a:pPr>
                      <a:r>
                        <a:t>L-1주 완료 미팅</a:t>
                      </a:r>
                    </a:p>
                  </a:txBody>
                  <a:tcPr anchor="ctr"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4819650"/>
            <a:ext cx="10668000" cy="10287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3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62100" y="4972050"/>
            <a:ext cx="97917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F3B"/>
                </a:solidFill>
                <a:latin typeface="Noto Sans KR"/>
              </a:defRPr>
            </a:pPr>
            <a:r>
              <a:t>런칭 및 운영 전환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2100" y="5295900"/>
            <a:ext cx="97917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4861"/>
                </a:solidFill>
                <a:latin typeface="Noto Sans KR"/>
              </a:defRPr>
            </a:pPr>
            <a:r>
              <a:t>서비스 런칭 → B존 TF 워크플로우로 전환 · 초기 기획 이행 점검/조정은 주간 S&amp;OP 미팅(별도 SOP)으로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62650"/>
            <a:ext cx="10668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90"/>
                </a:solidFill>
                <a:latin typeface="Noto Sans KR"/>
              </a:defRPr>
            </a:pPr>
            <a:r>
              <a:t>표는 런칭 전 4주 기획 구간에서 '무엇을 언제 확정하는지'를 산출물 기준으로 정리합니다.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