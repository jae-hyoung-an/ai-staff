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0"/>
            <a:ext cx="112772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B존 TF 워크플로우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772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8B949E"/>
                </a:solidFill>
              </a:defRPr>
            </a:pPr>
            <a:r>
              <a:t>v0.3 | 2026.02.02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1. 개요 및 Phase 구조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2633472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TF 구성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234440"/>
          <a:ext cx="53035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역할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상점 영업, 계약 체결, 판가 협상, 프로모션 설계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배송 pool 확보 (벤더/프렌즈), S&amp;OP 기획/운영, Capa 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0883E"/>
                          </a:solidFill>
                        </a:defRPr>
                      </a:pPr>
                      <a:r>
                        <a:t>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상점 리텐션 관리, VOC 수집, 이탈 방지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3774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배송 Pool 구조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651760"/>
          <a:ext cx="5303520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7840"/>
                <a:gridCol w="1767840"/>
                <a:gridCol w="1767840"/>
              </a:tblGrid>
              <a:tr h="259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특징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957E5"/>
                          </a:solidFill>
                        </a:defRPr>
                      </a:pPr>
                      <a:r>
                        <a:t>벤더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5명 내외 위탁 업체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권역 단위 계약, 안정적 Pool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908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프렌즈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크라우드소싱 기반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유연한 증감, 버퍼 역할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960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3 Phase 구조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943600" y="1280160"/>
            <a:ext cx="1463040" cy="640080"/>
          </a:xfrm>
          <a:prstGeom prst="round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타게팅</a:t>
            </a:r>
          </a:p>
          <a:p>
            <a:pPr algn="ctr">
              <a:defRPr sz="800">
                <a:solidFill>
                  <a:srgbClr val="DCDCDC"/>
                </a:solidFill>
              </a:defRPr>
            </a:pPr>
            <a:r>
              <a:t>지역 선정/기반 조사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7452360" y="1463040"/>
            <a:ext cx="274320" cy="228600"/>
          </a:xfrm>
          <a:prstGeom prst="rightArrow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772400" y="1280160"/>
            <a:ext cx="1463040" cy="640080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초기 영업</a:t>
            </a:r>
          </a:p>
          <a:p>
            <a:pPr algn="ctr">
              <a:defRPr sz="800">
                <a:solidFill>
                  <a:srgbClr val="DCDCDC"/>
                </a:solidFill>
              </a:defRPr>
            </a:pPr>
            <a:r>
              <a:t>상점 락인/품질 증명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9281160" y="1463040"/>
            <a:ext cx="274320" cy="228600"/>
          </a:xfrm>
          <a:prstGeom prst="rightArrow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01200" y="1280160"/>
            <a:ext cx="1463040" cy="640080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관리</a:t>
            </a:r>
          </a:p>
          <a:p>
            <a:pPr algn="ctr">
              <a:defRPr sz="800">
                <a:solidFill>
                  <a:srgbClr val="DCDCDC"/>
                </a:solidFill>
              </a:defRPr>
            </a:pPr>
            <a:r>
              <a:t>안정 운영/점진 확장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5943600" y="2057400"/>
          <a:ext cx="585216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463040"/>
                <a:gridCol w="1463040"/>
                <a:gridCol w="1463040"/>
              </a:tblGrid>
              <a:tr h="3429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목적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핵심 활동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957E5"/>
                          </a:solidFill>
                        </a:defRPr>
                      </a:pPr>
                      <a:r>
                        <a:t>타게팅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진입 지역 선정 및 기반 조사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시장조사, 벤더 후보 파악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영업, 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초기 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상점 락인 + 배송 품질 증명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영업, 배송 pool 선확보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영업, 운영, 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안정적 운영 + 점진적 확장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S&amp;OP 기반 운영, 리텐션 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영업, 운영, 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2. 타게팅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975104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목적: 영업 목표 지역 선정 및 배송 기반 조사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조직별 활동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1371600"/>
            <a:ext cx="274320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57200" y="1417320"/>
            <a:ext cx="502920" cy="201168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영업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691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DF3"/>
                </a:solidFill>
              </a:defRPr>
            </a:pPr>
            <a:r>
              <a:t>• 영업 목표 지역 선정 - 시장 잠재력 기반</a:t>
            </a:r>
            <a:br/>
            <a:r>
              <a:t>• 시장 조사 - 상점 분포, 경쟁 현황</a:t>
            </a:r>
            <a:br/>
            <a:r>
              <a:t>• 영업 목표 설정 - 목표 상점 수, 물량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71600"/>
            <a:ext cx="2743200" cy="109728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291840" y="1417320"/>
            <a:ext cx="502920" cy="201168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91640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DF3"/>
                </a:solidFill>
              </a:defRPr>
            </a:pPr>
            <a:r>
              <a:t>• 벤더 후보 조사 - 계약 가능 벤더 리스트업</a:t>
            </a:r>
            <a:br/>
            <a:r>
              <a:t>• 프렌즈 현황 파악 - 활동 인원 확인</a:t>
            </a:r>
            <a:br/>
            <a:r>
              <a:t>• 배송 기반 조사 - 권역 구조, 예상 Capa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80" y="1097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주요 KPI</a:t>
            </a: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126480" y="1371600"/>
          <a:ext cx="566928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</a:tblGrid>
              <a:tr h="24688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벤더 후보 리스트업 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계약 가능한 벤더 후보 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7EE787"/>
                          </a:solidFill>
                        </a:defRPr>
                      </a:pPr>
                      <a:r>
                        <a:t>N개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프렌즈 활동 인원 파악률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지역 내 프렌즈 현황 파악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7EE787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시장 조사 완료율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상점 분포/경쟁 현황 조사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7EE787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예상 Capa 산출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권역별 예상 배송 가능 물량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7EE787"/>
                          </a:solidFill>
                        </a:defRPr>
                      </a:pPr>
                      <a:r>
                        <a:t>산출 완료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365760" y="26060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리스크 및 대응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880360"/>
          <a:ext cx="557784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59280"/>
                <a:gridCol w="1859280"/>
                <a:gridCol w="1859280"/>
              </a:tblGrid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리스크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영향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대응 방안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벤더 후보 부족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초기 영업 지연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7EE787"/>
                          </a:solidFill>
                        </a:defRPr>
                      </a:pPr>
                      <a:r>
                        <a:t>인접 권역 벤더 섭외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프렌즈 활동 인원 부족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Capa 확보 어려움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7EE787"/>
                          </a:solidFill>
                        </a:defRPr>
                      </a:pPr>
                      <a:r>
                        <a:t>사전 프로모션, 타 지역 유치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시장 조사 오류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영업 목표 미달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7EE787"/>
                          </a:solidFill>
                        </a:defRPr>
                      </a:pPr>
                      <a:r>
                        <a:t>경쟁사 동향 재조사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6126480" y="2743200"/>
            <a:ext cx="5669280" cy="50292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2788920"/>
            <a:ext cx="54864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883E"/>
                </a:solidFill>
              </a:defRPr>
            </a:pPr>
            <a:r>
              <a:t>전환 기준 (타게팅 → 초기 영업)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299923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DF3"/>
                </a:solidFill>
              </a:defRPr>
            </a:pPr>
            <a:r>
              <a:t>목표 지역 확정 + 벤더 후보 N개 이상 + 프렌즈 현황 파악 완료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3. 초기 영업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2304288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목적: 상점 락인을 위한 공격적 영업 + 배송 품질 체험 제공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8288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02920" cy="201168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영업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8988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상점 방문 영업 - 소개/시연</a:t>
            </a:r>
            <a:br/>
            <a:r>
              <a:t>• 프로모션 Offer - 무료 배송</a:t>
            </a:r>
            <a:br/>
            <a:r>
              <a:t>• 판가 협상 및 계약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097280"/>
            <a:ext cx="18288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7440" y="1143000"/>
            <a:ext cx="502920" cy="201168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38988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벤더 선확보 - 미리 영업</a:t>
            </a:r>
            <a:br/>
            <a:r>
              <a:t>• 프렌즈 선확보 - 프로모션</a:t>
            </a:r>
            <a:br/>
            <a:r>
              <a:t>• 배송 품질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97280"/>
            <a:ext cx="1828800" cy="91440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143000"/>
            <a:ext cx="502920" cy="201168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389888"/>
            <a:ext cx="17373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피드백 수집</a:t>
            </a:r>
            <a:br/>
            <a:r>
              <a:t>• 계약 전환 지원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148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주요 KPI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377440"/>
          <a:ext cx="36576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방문 상점 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주간 N개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완료율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95%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참여율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60%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평균 배송 시간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N분 이내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계약 전환율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40%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확보율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100%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3375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벤더-프렌즈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611880"/>
            <a:ext cx="2560320" cy="256032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벤더 70%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926079" y="3611880"/>
            <a:ext cx="1097280" cy="25603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프렌즈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913632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8B949E"/>
                </a:solidFill>
              </a:defRPr>
            </a:pPr>
            <a:r>
              <a:t>핵심: 배송 품질 최우선 → 벤더 비중↑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214884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리스크 및 대응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206240" y="2377440"/>
          <a:ext cx="484632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리스크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영향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대응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배송 품질 미달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전환 실패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벤더 추가, 프로모션 연장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벤더/프렌즈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Capa 급감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대체 풀 확보, 긴급 프로모션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프로모션 비용 초과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수익성 악화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조기 종료, 전환 가속화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경쟁사 가격 경쟁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전환율 하락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차별화 강조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4206240" y="3566160"/>
            <a:ext cx="4846320" cy="502920"/>
          </a:xfrm>
          <a:prstGeom prst="roundRect">
            <a:avLst/>
          </a:prstGeom>
          <a:solidFill>
            <a:srgbClr val="1F1B17"/>
          </a:solidFill>
          <a:ln w="1270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97680" y="3611880"/>
            <a:ext cx="46634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0883E"/>
                </a:solidFill>
              </a:defRPr>
            </a:pPr>
            <a:r>
              <a:t>전환 기준 (초기 영업 → 관리)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3822191"/>
            <a:ext cx="4663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E6EDF3"/>
                </a:solidFill>
              </a:defRPr>
            </a:pPr>
            <a:r>
              <a:t>계약 N개 + 배송 완료율 95%↑ + Pool 안정화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4. 관리 Phase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1810512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749808"/>
            <a:ext cx="10972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>
                <a:solidFill>
                  <a:srgbClr val="8B949E"/>
                </a:solidFill>
              </a:defRPr>
            </a:pPr>
            <a:r>
              <a:t>목적: 안정적 운영 및 점진적 확장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182880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57200" y="1143000"/>
            <a:ext cx="502920" cy="201168"/>
          </a:xfrm>
          <a:prstGeom prst="round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영업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371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점진적 영업 - 안정적 확장</a:t>
            </a:r>
            <a:br/>
            <a:r>
              <a:t>• S&amp;OP 참여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286000" y="1097280"/>
            <a:ext cx="182880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377440" y="1143000"/>
            <a:ext cx="502920" cy="201168"/>
          </a:xfrm>
          <a:prstGeom prst="round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운영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77440" y="1371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S&amp;OP 운영</a:t>
            </a:r>
            <a:br/>
            <a:r>
              <a:t>• Capa 관리</a:t>
            </a:r>
            <a:br/>
            <a:r>
              <a:t>• 실시간 SLA 관리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06240" y="1097280"/>
            <a:ext cx="1828800" cy="77724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143000"/>
            <a:ext cx="502920" cy="201168"/>
          </a:xfrm>
          <a:prstGeom prst="roundRect">
            <a:avLst/>
          </a:prstGeom>
          <a:solidFill>
            <a:srgbClr val="F08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</a:defRPr>
            </a:pPr>
            <a:r>
              <a:t>CX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97680" y="1371600"/>
            <a:ext cx="1737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상점 리텐션 관리</a:t>
            </a:r>
            <a:br/>
            <a:r>
              <a:t>• 이탈 징후 경보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1965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주요 KPI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5760" y="2194560"/>
          <a:ext cx="365760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914400"/>
                <a:gridCol w="914400"/>
                <a:gridCol w="914400"/>
              </a:tblGrid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KPI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목표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이탈률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5% 이하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벤더 수행률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95%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월간 물량 성장률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10%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프렌즈 가동률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80%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SLA 달성률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90% 이상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S&amp;OP 예측 정확도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±10%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36576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벤더-프렌즈 비중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401568"/>
            <a:ext cx="2011680" cy="256032"/>
          </a:xfrm>
          <a:prstGeom prst="rect">
            <a:avLst/>
          </a:prstGeom>
          <a:solidFill>
            <a:srgbClr val="8957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벤더 50~60%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3401568"/>
            <a:ext cx="1645920" cy="256032"/>
          </a:xfrm>
          <a:prstGeom prst="rect">
            <a:avLst/>
          </a:prstGeom>
          <a:solidFill>
            <a:srgbClr val="F851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t>프렌즈 40~50%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3703320"/>
            <a:ext cx="36576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8B949E"/>
                </a:solidFill>
              </a:defRPr>
            </a:pPr>
            <a:r>
              <a:t>핵심: 비용 효율성 → 프렌즈 비중↑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06240" y="19659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운영 체계 (주기별)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4206240" y="2194560"/>
          <a:ext cx="4846320" cy="868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주기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활동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담당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S&amp;OP - 물량 예측 + Capa 기획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일일 물량 모니터링 + 이슈 대응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717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실시간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SLA 모니터링 → Capa 부족 대응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4206240" y="31546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실시간 Capa 대응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4206240" y="3383280"/>
          <a:ext cx="4846320" cy="594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19812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단계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대응 방법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시간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1차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Dynamic Pricing, 벤더 수행 독려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~15분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19812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2차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동적 미션 생성, 벤더 추가 투입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~15분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5. 조직별 R&amp;R 매트릭스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2468879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005840"/>
          <a:ext cx="114300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57500"/>
                <a:gridCol w="2857500"/>
                <a:gridCol w="2857500"/>
                <a:gridCol w="2857500"/>
              </a:tblGrid>
              <a:tr h="4572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영업조직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운영조직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CX조직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8957E5"/>
                          </a:solidFill>
                        </a:defRPr>
                      </a:pPr>
                      <a:r>
                        <a:t>타게팅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• 영업 목표 지역 선정</a:t>
                      </a:r>
                    </a:p>
                    <a:p>
                      <a:r>
                        <a:t>• 시장 조사 및 자료 수집</a:t>
                      </a:r>
                    </a:p>
                    <a:p>
                      <a:r>
                        <a:t>• 영업 목표 설정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• 벤더 후보 조사</a:t>
                      </a:r>
                    </a:p>
                    <a:p>
                      <a:r>
                        <a:t>• 프렌즈 현황 파악</a:t>
                      </a:r>
                    </a:p>
                    <a:p>
                      <a:r>
                        <a:t>• 배송 기반 조사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85149"/>
                          </a:solidFill>
                        </a:defRPr>
                      </a:pPr>
                      <a:r>
                        <a:t>초기 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• 상점 방문 영업</a:t>
                      </a:r>
                    </a:p>
                    <a:p>
                      <a:r>
                        <a:t>• 프로모션 Offer</a:t>
                      </a:r>
                    </a:p>
                    <a:p>
                      <a:r>
                        <a:t>• 판가 협상 및 계약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• 벤더 선확보</a:t>
                      </a:r>
                    </a:p>
                    <a:p>
                      <a:r>
                        <a:t>• 프렌즈 선확보</a:t>
                      </a:r>
                    </a:p>
                    <a:p>
                      <a:r>
                        <a:t>• 배송 품질 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• 피드백 수집 (지원)</a:t>
                      </a:r>
                    </a:p>
                    <a:p>
                      <a:r>
                        <a:t>• 계약 전환 지원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58A6FF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• 점진적 영업</a:t>
                      </a:r>
                    </a:p>
                    <a:p>
                      <a:r>
                        <a:t>• S&amp;OP 참여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• S&amp;OP 운영</a:t>
                      </a:r>
                    </a:p>
                    <a:p>
                      <a:r>
                        <a:t>• Capa 관리</a:t>
                      </a:r>
                    </a:p>
                    <a:p>
                      <a:r>
                        <a:t>• 실시간 SLA 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E6EDF3"/>
                          </a:solidFill>
                        </a:defRPr>
                      </a:pPr>
                      <a:r>
                        <a:t>• 상점 리텐션 관리</a:t>
                      </a:r>
                    </a:p>
                    <a:p>
                      <a:r>
                        <a:t>• 이탈 징후 경보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297180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Phase 전환 기준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3246120"/>
            <a:ext cx="54864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8957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32918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8957E5"/>
                </a:solidFill>
              </a:defRPr>
            </a:pPr>
            <a:r>
              <a:t>타게팅 → 초기 영업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93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목표 지역 확정</a:t>
            </a:r>
            <a:br/>
            <a:r>
              <a:t>• 벤더 후보 N개 이상 리스트업 완료</a:t>
            </a:r>
            <a:br/>
            <a:r>
              <a:t>• 프렌즈 현황 파악 완료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3246120"/>
            <a:ext cx="5486400" cy="594360"/>
          </a:xfrm>
          <a:prstGeom prst="roundRect">
            <a:avLst/>
          </a:prstGeom>
          <a:solidFill>
            <a:srgbClr val="161B22"/>
          </a:solidFill>
          <a:ln w="12700">
            <a:solidFill>
              <a:srgbClr val="F851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3291840"/>
            <a:ext cx="53035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85149"/>
                </a:solidFill>
              </a:defRPr>
            </a:pPr>
            <a:r>
              <a:t>초기 영업 → 관리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349300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b="0">
                <a:solidFill>
                  <a:srgbClr val="E6EDF3"/>
                </a:solidFill>
              </a:defRPr>
            </a:pPr>
            <a:r>
              <a:t>• 계약 상점 N개 달성</a:t>
            </a:r>
            <a:br/>
            <a:r>
              <a:t>• 배송 퀄리티 목표 달성 (완료율 95% 이상)</a:t>
            </a:r>
            <a:br/>
            <a:r>
              <a:t>• 벤더/프렌즈 pool 안정화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6. 조직 간 협업 체계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2139696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정기 협업 미팅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시점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미팅명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참여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주요 안건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타게팅 완료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Kick-off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목표 vs Capa 정합성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초기 영업 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 리뷰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현황, 배송 퀄리티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관리 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S&amp;OP 회의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영업+운영+CX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물량 예측, 공급 기획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24028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정보 공유 체계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468880"/>
          <a:ext cx="548640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2133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정보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제공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수신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주기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파이프라인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일정/예상 물량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D-3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Capa 현황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퀄리티 리포트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336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VOC/이탈 징후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CX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영업+운영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실시간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960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의사결정 권한 (RACI)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170432"/>
            <a:ext cx="548640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700" b="0">
                <a:solidFill>
                  <a:srgbClr val="8B949E"/>
                </a:solidFill>
              </a:defRPr>
            </a:pPr>
            <a:r>
              <a:t>A=최종책임, C=협의, I=통보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6035040" y="1325880"/>
          <a:ext cx="5760720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245745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의사결정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영업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운영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CX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목표 지역 선정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벤더 계약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프로모션 설계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원가 설정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계약 조건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영업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Capa 부족 대응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I</a:t>
                      </a:r>
                    </a:p>
                  </a:txBody>
                  <a:tcPr>
                    <a:solidFill>
                      <a:srgbClr val="8B949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운영 즉시 대응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45745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 이탈 방지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FFFFFF"/>
                          </a:solidFill>
                        </a:defRPr>
                      </a:pPr>
                      <a:r>
                        <a:t>C</a:t>
                      </a:r>
                    </a:p>
                  </a:txBody>
                  <a:tcPr>
                    <a:solidFill>
                      <a:srgbClr val="58A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85149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CX 주도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58A6FF"/>
                </a:solidFill>
              </a:defRPr>
            </a:pPr>
            <a:r>
              <a:t>7. 리스크 모니터링 및 용어 정리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685800"/>
            <a:ext cx="3127248" cy="27432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960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리스크 모니터링 지표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188720"/>
          <a:ext cx="54864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리스크 유형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모니터링 지표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경고 기준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Capa 부족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실시간 배송 대기 건수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85149"/>
                          </a:solidFill>
                        </a:defRPr>
                      </a:pPr>
                      <a:r>
                        <a:t>평균 대비 150% 초과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벤더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벤더 수행률 하락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85149"/>
                          </a:solidFill>
                        </a:defRPr>
                      </a:pPr>
                      <a:r>
                        <a:t>90% 미만 2주 연속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상점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 오더 감소율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85149"/>
                          </a:solidFill>
                        </a:defRPr>
                      </a:pPr>
                      <a:r>
                        <a:t>전주 대비 30%↓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프렌즈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주간 활성 프렌즈 수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F85149"/>
                          </a:solidFill>
                        </a:defRPr>
                      </a:pPr>
                      <a:r>
                        <a:t>목표 대비 80% 미만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242316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Phase별 리스크 요약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65760" y="2651760"/>
          <a:ext cx="54864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주요 리스크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핵심 대응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타게팅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벤더/프렌즈 후보 부족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인접 권역 활용, 프렌즈 비중 확대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F85149"/>
                          </a:solidFill>
                        </a:defRPr>
                      </a:pPr>
                      <a:r>
                        <a:t>초기 영업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배송 품질 미달,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벤더 추가 투입, 대체 풀 확보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286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관리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물량 급증, 상점 이탈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7EE787"/>
                          </a:solidFill>
                        </a:defRPr>
                      </a:pPr>
                      <a:r>
                        <a:t>실시간 모니터링, CX 조기 경보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035040" y="960120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0883E"/>
                </a:solidFill>
              </a:defRPr>
            </a:pPr>
            <a:r>
              <a:t>주요 용어 정리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035040" y="1188720"/>
          <a:ext cx="576072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용어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58A6FF"/>
                          </a:solidFill>
                        </a:defRPr>
                      </a:pPr>
                      <a:r>
                        <a:t>정의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B존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신규 운영 방식(NVP/벤더 기반)으로 구축하는 권역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벤더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5명 내외 위탁 업체. 권역 단위 계약, 안정적 수행 pool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프렌즈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크라우드소싱 기반 배송 기사. 유연한 증감, 버퍼 역할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세트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협력사(벤더)에 물량을 위탁하는 최소 단위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상점-벤더-기사를 연결하는 지역 단위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S&amp;OP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Sales &amp; Operations Planning. 물량 예측 및 공급 기획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Capa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Capacity. 배송 수행 가능 물량/인원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  <a:tr h="26416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8957E5"/>
                          </a:solidFill>
                        </a:defRPr>
                      </a:pPr>
                      <a:r>
                        <a:t>SLA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E6EDF3"/>
                          </a:solidFill>
                        </a:defRPr>
                      </a:pPr>
                      <a:r>
                        <a:t>Service Level Agreement. 서비스 수준 약속</a:t>
                      </a:r>
                    </a:p>
                  </a:txBody>
                  <a:tcPr>
                    <a:solidFill>
                      <a:srgbClr val="0D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