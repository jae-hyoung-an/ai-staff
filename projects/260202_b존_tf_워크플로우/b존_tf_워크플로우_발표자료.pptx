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B존 TF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949E"/>
                </a:solidFill>
              </a:defRPr>
            </a:pPr>
            <a:r>
              <a:t>v0.3 | 2026.02.02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1. 개요 및 Phase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2633472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0883E"/>
                </a:solidFill>
              </a:defRPr>
            </a:pPr>
            <a:r>
              <a:t>TF 구성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53035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조직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5149"/>
                          </a:solidFill>
                        </a:defRPr>
                      </a:pPr>
                      <a:r>
                        <a:t>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상점 영업, 계약 체결, 판가 협상, 프로모션 설계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배송 pool 확보 (벤더/프렌즈), S&amp;OP 기획/운영, Capa 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0883E"/>
                          </a:solidFill>
                        </a:defRPr>
                      </a:pPr>
                      <a:r>
                        <a:t>CX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상점 리텐션 관리, VOC 수집, 이탈 방지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0883E"/>
                </a:solidFill>
              </a:defRPr>
            </a:pPr>
            <a:r>
              <a:t>배송 Pool 구조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14600"/>
          <a:ext cx="5303520" cy="68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정의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특징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957E5"/>
                          </a:solidFill>
                        </a:defRPr>
                      </a:pPr>
                      <a:r>
                        <a:t>벤더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5명 내외 위탁 업체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권역 단위 계약, 안정적 Pool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5149"/>
                          </a:solidFill>
                        </a:defRPr>
                      </a:pPr>
                      <a:r>
                        <a:t>프렌즈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크라우드소싱 기반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유연한 증감, 버퍼 역할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0" y="914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0883E"/>
                </a:solidFill>
              </a:defRPr>
            </a:pPr>
            <a:r>
              <a:t>3 Phase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234440"/>
            <a:ext cx="1554480" cy="731520"/>
          </a:xfrm>
          <a:prstGeom prst="round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타게팅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지역 선정/기반 조사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543800" y="1463040"/>
            <a:ext cx="274320" cy="228600"/>
          </a:xfrm>
          <a:prstGeom prst="rightArrow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863840" y="1234440"/>
            <a:ext cx="1554480" cy="731520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초기 영업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상점 락인/품질 증명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1463040"/>
            <a:ext cx="274320" cy="228600"/>
          </a:xfrm>
          <a:prstGeom prst="rightArrow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784080" y="1234440"/>
            <a:ext cx="1554480" cy="73152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관리</a:t>
            </a:r>
          </a:p>
          <a:p>
            <a:pPr algn="ctr">
              <a:defRPr sz="1000" b="1">
                <a:solidFill>
                  <a:srgbClr val="FFFFFF"/>
                </a:solidFill>
              </a:defRPr>
            </a:pPr>
            <a:r>
              <a:t>안정 운영/점진 확장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43600" y="2103120"/>
          <a:ext cx="58521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목적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핵심 활동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조직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타게팅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진입 지역 선정 및 기반 조사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시장조사, 벤더 후보 파악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영업, 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초기 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상점 락인 + 배송 품질 증명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프로모션 영업, 배송 pool 선확보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영업, 운영, CX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안정적 운영 + 점진적 확장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S&amp;OP 기반 운영, 리텐션 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영업, 운영, CX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2. 타게팅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975104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t>목적: 영업 목표 지역 선정 및 배송 기반 조사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조직별 활동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274320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02920" cy="201168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영업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2763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EDF3"/>
                </a:solidFill>
              </a:defRPr>
            </a:pPr>
            <a:r>
              <a:t>• 영업 목표 지역 선정 - 시장 잠재력 기반</a:t>
            </a:r>
            <a:br/>
            <a:r>
              <a:t>• 시장 조사 - 상점 분포, 경쟁 현황</a:t>
            </a:r>
            <a:br/>
            <a:r>
              <a:t>• 영업 목표 설정 - 목표 상점 수, 물량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74320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3291840" y="1371600"/>
            <a:ext cx="502920" cy="201168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2763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EDF3"/>
                </a:solidFill>
              </a:defRPr>
            </a:pPr>
            <a:r>
              <a:t>• 벤더 후보 조사 - 계약 가능 벤더 리스트업</a:t>
            </a:r>
            <a:br/>
            <a:r>
              <a:t>• 프렌즈 현황 파악 - 활동 인원 확인</a:t>
            </a:r>
            <a:br/>
            <a:r>
              <a:t>• 배송 기반 조사 - 권역 구조, 예상 Capa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051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주요 KPI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26480" y="1280160"/>
          <a:ext cx="56692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46888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벤더 후보 리스트업 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계약 가능한 벤더 후보 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N개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프렌즈 활동 인원 파악률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지역 내 프렌즈 현황 파악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시장 조사 완료율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상점 분포/경쟁 현황 조사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예상 Capa 산출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권역별 예상 배송 가능 물량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산출 완료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26517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리스크 및 대응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2880360"/>
          <a:ext cx="55778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2514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리스크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영향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대응 방안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벤더 후보 부족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초기 영업 지연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인접 권역 벤더 섭외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프렌즈 활동 인원 부족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Capa 확보 어려움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사전 프로모션, 타 지역 유치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시장 조사 오류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 목표 미달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경쟁사 동향 재조사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126480" y="2651760"/>
            <a:ext cx="5669280" cy="45720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6217920" y="269748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883E"/>
                </a:solidFill>
              </a:defRPr>
            </a:pPr>
            <a:r>
              <a:t>전환 기준 (타게팅 → 초기 영업)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8803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EDF3"/>
                </a:solidFill>
              </a:defRPr>
            </a:pPr>
            <a:r>
              <a:t>목표 지역 확정 + 벤더 후보 N개 이상 + 프렌즈 현황 파악 완료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3. 초기 영업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2304288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t>목적: 상점 락인을 위한 공격적 영업 + 배송 품질 체험 제공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874519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640080" cy="182880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영업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상점 방문 영업 - 소개/시연</a:t>
            </a:r>
            <a:br/>
            <a:r>
              <a:t>• 프로모션 Offer - 무료 배송</a:t>
            </a:r>
            <a:br/>
            <a:r>
              <a:t>• 판가 협상 및 계약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051560"/>
            <a:ext cx="1874519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2423160" y="1097280"/>
            <a:ext cx="640080" cy="1828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3258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벤더 선확보 - 미리 영업</a:t>
            </a:r>
            <a:br/>
            <a:r>
              <a:t>• 프렌즈 선확보 - 프로모션</a:t>
            </a:r>
            <a:br/>
            <a:r>
              <a:t>• 배송 품질 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051560"/>
            <a:ext cx="1874519" cy="1051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4389120" y="1097280"/>
            <a:ext cx="640080" cy="18288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CX (지원)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32588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피드백 수집</a:t>
            </a:r>
            <a:br/>
            <a:r>
              <a:t>• 계약 전환 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94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주요 KPI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2377440"/>
          <a:ext cx="393192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/>
                <a:gridCol w="982980"/>
                <a:gridCol w="982980"/>
                <a:gridCol w="982980"/>
              </a:tblGrid>
              <a:tr h="21717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방문 상점 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주간 N개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배송 완료율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95%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프로모션 참여율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60%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평균 배송 시간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N분 이내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계약 전환율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40%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확보율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291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벤더-프렌즈 비중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520440"/>
            <a:ext cx="2752344" cy="27432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벤더 70%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18103" y="3520440"/>
            <a:ext cx="1179575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프렌즈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84048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8B949E"/>
                </a:solidFill>
              </a:defRPr>
            </a:pPr>
            <a:r>
              <a:t>핵심: 배송 품질 최우선 → 벤더 비중 높여 안정적 체험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19456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리스크 및 대응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480560" y="237744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리스크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영향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대응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배송 품질 미달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전환 실패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벤더 추가, 프로모션 연장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벤더/프렌즈 이탈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Capa 급감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대체 풀 확보, 긴급 프로모션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프로모션 비용 초과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수익성 악화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조기 종료, 전환 가속화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경쟁사 가격 경쟁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전환율 하락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차별화 강조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480560" y="3566160"/>
            <a:ext cx="4572000" cy="45720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4572000" y="361188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883E"/>
                </a:solidFill>
              </a:defRPr>
            </a:pPr>
            <a:r>
              <a:t>전환 기준 (초기 영업 → 관리)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7947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EDF3"/>
                </a:solidFill>
              </a:defRPr>
            </a:pPr>
            <a:r>
              <a:t>계약 N개 + 배송 완료율 95%↑ + Pool 안정화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4. 관리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810512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t>목적: 안정적 운영 및 점진적 확장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51560"/>
            <a:ext cx="1874519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457200" cy="182880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영업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점진적 영업 - 안정적 확장</a:t>
            </a:r>
            <a:br/>
            <a:r>
              <a:t>• S&amp;OP 참여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1051560"/>
            <a:ext cx="1874519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2423160" y="1097280"/>
            <a:ext cx="457200" cy="1828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3258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S&amp;OP 운영</a:t>
            </a:r>
            <a:br/>
            <a:r>
              <a:t>• Capa 관리</a:t>
            </a:r>
            <a:br/>
            <a:r>
              <a:t>• 실시간 SLA 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051560"/>
            <a:ext cx="1874519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3" name="Rounded Rectangle 12"/>
          <p:cNvSpPr/>
          <p:nvPr/>
        </p:nvSpPr>
        <p:spPr>
          <a:xfrm>
            <a:off x="4389120" y="1097280"/>
            <a:ext cx="457200" cy="182880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32588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상점 리텐션 관리</a:t>
            </a:r>
            <a:br/>
            <a:r>
              <a:t>• 이탈 징후 경보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011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주요 KPI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2194560"/>
          <a:ext cx="393192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/>
                <a:gridCol w="982980"/>
                <a:gridCol w="982980"/>
                <a:gridCol w="982980"/>
              </a:tblGrid>
              <a:tr h="21717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상점 이탈률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5% 이하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벤더 수행률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95%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월간 물량 성장률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10%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프렌즈 가동률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80%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SLA 달성률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90%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S&amp;OP 예측 정확도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±10%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154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벤더-프렌즈 비중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383280"/>
            <a:ext cx="2162556" cy="27432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벤더 50~60%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28316" y="3383280"/>
            <a:ext cx="1769364" cy="274320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프렌즈 40~50%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03320"/>
            <a:ext cx="3931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8B949E"/>
                </a:solidFill>
              </a:defRPr>
            </a:pPr>
            <a:r>
              <a:t>핵심: 비용 효율성 → 프렌즈 비중 높여 비용 최적화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011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운영 체계 (주기별)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480560" y="2194560"/>
          <a:ext cx="45720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21717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주기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활동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S&amp;OP - 물량 예측 + Capa 기획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영업+운영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일일 물량 모니터링 + 이슈 대응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실시간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SLA 모니터링 → Capa 부족 대응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480560" y="315468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실시간 Capa 대응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480560" y="3337560"/>
          <a:ext cx="45720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/>
                <a:gridCol w="1524000"/>
                <a:gridCol w="1524000"/>
              </a:tblGrid>
              <a:tr h="2133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대응 방법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시간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1차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Dynamic Pricing, 벤더 수행 독려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~15분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2차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동적 미션 생성, 벤더 추가 투입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~15분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5. 조직별 R&amp;R 매트릭스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2468879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257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영업조직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운영조직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CX조직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957E5"/>
                          </a:solidFill>
                        </a:defRPr>
                      </a:pPr>
                      <a:r>
                        <a:t>타게팅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• 영업 목표 지역 선정</a:t>
                      </a:r>
                    </a:p>
                    <a:p>
                      <a:r>
                        <a:t>• 시장 조사 및 자료 수집</a:t>
                      </a:r>
                    </a:p>
                    <a:p>
                      <a:r>
                        <a:t>• 영업 목표 설정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• 벤더 후보 조사</a:t>
                      </a:r>
                    </a:p>
                    <a:p>
                      <a:r>
                        <a:t>• 프렌즈 현황 파악</a:t>
                      </a:r>
                    </a:p>
                    <a:p>
                      <a:r>
                        <a:t>• 배송 기반 조사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5149"/>
                          </a:solidFill>
                        </a:defRPr>
                      </a:pPr>
                      <a:r>
                        <a:t>초기 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• 상점 방문 영업</a:t>
                      </a:r>
                    </a:p>
                    <a:p>
                      <a:r>
                        <a:t>• 프로모션 Offer</a:t>
                      </a:r>
                    </a:p>
                    <a:p>
                      <a:r>
                        <a:t>• 판가 협상 및 계약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• 벤더 선확보</a:t>
                      </a:r>
                    </a:p>
                    <a:p>
                      <a:r>
                        <a:t>• 프렌즈 선확보</a:t>
                      </a:r>
                    </a:p>
                    <a:p>
                      <a:r>
                        <a:t>• 배송 품질 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• 피드백 수집 (지원)</a:t>
                      </a:r>
                    </a:p>
                    <a:p>
                      <a:r>
                        <a:t>• 계약 전환 지원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• 점진적 영업</a:t>
                      </a:r>
                    </a:p>
                    <a:p>
                      <a:r>
                        <a:t>• S&amp;OP 참여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• S&amp;OP 운영</a:t>
                      </a:r>
                    </a:p>
                    <a:p>
                      <a:r>
                        <a:t>• Capa 관리</a:t>
                      </a:r>
                    </a:p>
                    <a:p>
                      <a:r>
                        <a:t>• 실시간 SLA 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• 상점 리텐션 관리</a:t>
                      </a:r>
                    </a:p>
                    <a:p>
                      <a:r>
                        <a:t>• 이탈 징후 경보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24612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Phase 전환 기준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520440"/>
            <a:ext cx="5486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895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957E5"/>
                </a:solidFill>
              </a:defRPr>
            </a:pPr>
            <a:r>
              <a:t>타게팅 → 초기 영업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목표 지역 확정</a:t>
            </a:r>
            <a:br/>
            <a:r>
              <a:t>• 벤더 후보 N개 이상 리스트업 완료</a:t>
            </a:r>
            <a:br/>
            <a:r>
              <a:t>• 프렌즈 현황 파악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520440"/>
            <a:ext cx="5486400" cy="640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FFFFF"/>
                </a:solidFill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0" y="356616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5149"/>
                </a:solidFill>
              </a:defRPr>
            </a:pPr>
            <a:r>
              <a:t>초기 영업 →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947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계약 상점 N개 달성</a:t>
            </a:r>
            <a:br/>
            <a:r>
              <a:t>• 배송 퀄리티 목표 달성 (완료율 95% 이상)</a:t>
            </a:r>
            <a:br/>
            <a:r>
              <a:t>• 벤더/프렌즈 pool 안정화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6. 조직 간 협업 체계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2139696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정기 협업 미팅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시점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미팅명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참여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주요 안건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타게팅 완료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Kick-off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영업+운영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 목표 vs Capa 정합성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초기 영업 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주간 리뷰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영업+운영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프로모션 현황, 배송 퀄리티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관리 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S&amp;OP 회의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영업+운영+CX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물량 예측, 공급 기획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14884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정보 공유 체계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331720"/>
          <a:ext cx="54864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2098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정보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제공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수신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주기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 파이프라인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프로모션 일정/예상 물량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D-3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배송 Capa 현황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배송 퀄리티 리포트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영업+CX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098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상점 VOC/이탈 징후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CX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영업+운영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실시간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9144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의사결정 권한 (RACI)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097280"/>
            <a:ext cx="5486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8B949E"/>
                </a:solidFill>
              </a:defRPr>
            </a:pPr>
            <a:r>
              <a:t>A=최종책임, C=협의, I=통보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234440"/>
          <a:ext cx="57607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2514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영업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CX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목표 지역 선정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 주도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벤더 계약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 주도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프로모션 설계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 주도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배송 원가 설정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 주도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상점 계약 조건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 주도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Capa 부족 대응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8B94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 즉시 대응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상점 이탈 방지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CX 주도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7. 리스크 모니터링 및 용어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3127248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리스크 모니터링 지표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리스크 유형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모니터링 지표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경고 기준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Capa 부족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실시간 배송 대기 건수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85149"/>
                          </a:solidFill>
                        </a:defRPr>
                      </a:pPr>
                      <a:r>
                        <a:t>평균 대비 150% 초과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벤더 이탈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벤더 수행률 하락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85149"/>
                          </a:solidFill>
                        </a:defRPr>
                      </a:pPr>
                      <a:r>
                        <a:t>90% 미만 2주 연속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상점 이탈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주간 오더 감소율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85149"/>
                          </a:solidFill>
                        </a:defRPr>
                      </a:pPr>
                      <a:r>
                        <a:t>전주 대비 30%↓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프렌즈 이탈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주간 활성 프렌즈 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85149"/>
                          </a:solidFill>
                        </a:defRPr>
                      </a:pPr>
                      <a:r>
                        <a:t>목표 대비 80% 미만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2860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Phase별 리스크 요약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46888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주요 리스크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핵심 대응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타게팅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벤더/프렌즈 후보 부족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인접 권역 활용, 프렌즈 비중 확대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초기 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배송 품질 미달, 이탈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벤더 추가 투입, 대체 풀 확보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물량 급증, 상점 이탈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실시간 모니터링, CX 조기 경보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9144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0883E"/>
                </a:solidFill>
              </a:defRPr>
            </a:pPr>
            <a:r>
              <a:t>주요 용어 정리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35040" y="1097280"/>
          <a:ext cx="57607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25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용어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정의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B존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신규 운영 방식(NVP/벤더 기반)으로 구축하는 권역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벤더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5명 내외 위탁 업체. 권역 단위 계약, 안정적 수행 pool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프렌즈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크라우드소싱 기반 배송 기사. 유연한 증감, 버퍼 역할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세트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협력사(벤더)에 물량을 위탁하는 최소 단위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권역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상점-벤더-기사를 연결하는 지역 단위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S&amp;OP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Sales &amp; Operations Planning. 물량 예측 및 공급 기획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Capa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Capacity. 배송 수행 가능 물량/인원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Service Level Agreement. 서비스 수준 약속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